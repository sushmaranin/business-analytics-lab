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4" r:id="rId7"/>
    <p:sldId id="263" r:id="rId8"/>
    <p:sldId id="261" r:id="rId9"/>
    <p:sldId id="264" r:id="rId10"/>
    <p:sldId id="265" r:id="rId11"/>
    <p:sldId id="266" r:id="rId12"/>
    <p:sldId id="267" r:id="rId13"/>
    <p:sldId id="268" r:id="rId14"/>
    <p:sldId id="272" r:id="rId15"/>
    <p:sldId id="269" r:id="rId16"/>
    <p:sldId id="270" r:id="rId17"/>
    <p:sldId id="273" r:id="rId18"/>
    <p:sldId id="27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4B0BA-6B98-74CF-23F4-EDE9DE1E7A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81AB2C7-5BA7-1595-246A-F56C3517C3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D517942-F9DE-3A64-6742-F3EB002A38FB}"/>
              </a:ext>
            </a:extLst>
          </p:cNvPr>
          <p:cNvSpPr>
            <a:spLocks noGrp="1"/>
          </p:cNvSpPr>
          <p:nvPr>
            <p:ph type="dt" sz="half" idx="10"/>
          </p:nvPr>
        </p:nvSpPr>
        <p:spPr/>
        <p:txBody>
          <a:bodyPr/>
          <a:lstStyle/>
          <a:p>
            <a:fld id="{74D6EF0A-C64A-4D97-8B72-5C7637A96EDC}" type="datetimeFigureOut">
              <a:rPr lang="en-IN" smtClean="0"/>
              <a:t>27-01-2026</a:t>
            </a:fld>
            <a:endParaRPr lang="en-IN"/>
          </a:p>
        </p:txBody>
      </p:sp>
      <p:sp>
        <p:nvSpPr>
          <p:cNvPr id="5" name="Footer Placeholder 4">
            <a:extLst>
              <a:ext uri="{FF2B5EF4-FFF2-40B4-BE49-F238E27FC236}">
                <a16:creationId xmlns:a16="http://schemas.microsoft.com/office/drawing/2014/main" id="{E646295B-FCE2-9EC4-730F-4E06F651CA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0E5FEE-9506-95FF-CFF3-CCE72CA14205}"/>
              </a:ext>
            </a:extLst>
          </p:cNvPr>
          <p:cNvSpPr>
            <a:spLocks noGrp="1"/>
          </p:cNvSpPr>
          <p:nvPr>
            <p:ph type="sldNum" sz="quarter" idx="12"/>
          </p:nvPr>
        </p:nvSpPr>
        <p:spPr/>
        <p:txBody>
          <a:bodyPr/>
          <a:lstStyle/>
          <a:p>
            <a:fld id="{3916F082-9954-4A0D-829B-B36750A1F004}" type="slidenum">
              <a:rPr lang="en-IN" smtClean="0"/>
              <a:t>‹#›</a:t>
            </a:fld>
            <a:endParaRPr lang="en-IN"/>
          </a:p>
        </p:txBody>
      </p:sp>
    </p:spTree>
    <p:extLst>
      <p:ext uri="{BB962C8B-B14F-4D97-AF65-F5344CB8AC3E}">
        <p14:creationId xmlns:p14="http://schemas.microsoft.com/office/powerpoint/2010/main" val="3399842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C8599-BA9F-9CD6-C14B-92CBF1522C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B44AEA-C41B-B128-DE21-3B5AAE588D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7F4F63-89BD-23EA-E154-90A13C26955E}"/>
              </a:ext>
            </a:extLst>
          </p:cNvPr>
          <p:cNvSpPr>
            <a:spLocks noGrp="1"/>
          </p:cNvSpPr>
          <p:nvPr>
            <p:ph type="dt" sz="half" idx="10"/>
          </p:nvPr>
        </p:nvSpPr>
        <p:spPr/>
        <p:txBody>
          <a:bodyPr/>
          <a:lstStyle/>
          <a:p>
            <a:fld id="{74D6EF0A-C64A-4D97-8B72-5C7637A96EDC}" type="datetimeFigureOut">
              <a:rPr lang="en-IN" smtClean="0"/>
              <a:t>27-01-2026</a:t>
            </a:fld>
            <a:endParaRPr lang="en-IN"/>
          </a:p>
        </p:txBody>
      </p:sp>
      <p:sp>
        <p:nvSpPr>
          <p:cNvPr id="5" name="Footer Placeholder 4">
            <a:extLst>
              <a:ext uri="{FF2B5EF4-FFF2-40B4-BE49-F238E27FC236}">
                <a16:creationId xmlns:a16="http://schemas.microsoft.com/office/drawing/2014/main" id="{DB0B6FF4-2987-96DE-D590-1FD168CAA7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567D8B-2C89-3CB4-AB2A-1E79F92EB777}"/>
              </a:ext>
            </a:extLst>
          </p:cNvPr>
          <p:cNvSpPr>
            <a:spLocks noGrp="1"/>
          </p:cNvSpPr>
          <p:nvPr>
            <p:ph type="sldNum" sz="quarter" idx="12"/>
          </p:nvPr>
        </p:nvSpPr>
        <p:spPr/>
        <p:txBody>
          <a:bodyPr/>
          <a:lstStyle/>
          <a:p>
            <a:fld id="{3916F082-9954-4A0D-829B-B36750A1F004}" type="slidenum">
              <a:rPr lang="en-IN" smtClean="0"/>
              <a:t>‹#›</a:t>
            </a:fld>
            <a:endParaRPr lang="en-IN"/>
          </a:p>
        </p:txBody>
      </p:sp>
    </p:spTree>
    <p:extLst>
      <p:ext uri="{BB962C8B-B14F-4D97-AF65-F5344CB8AC3E}">
        <p14:creationId xmlns:p14="http://schemas.microsoft.com/office/powerpoint/2010/main" val="2425886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A483A-A8AB-D2BC-BBDE-00D3FB3594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073A48-955B-A9C8-2B32-81B8BF87C2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C5CB90-3213-47C8-5073-E91A701D9075}"/>
              </a:ext>
            </a:extLst>
          </p:cNvPr>
          <p:cNvSpPr>
            <a:spLocks noGrp="1"/>
          </p:cNvSpPr>
          <p:nvPr>
            <p:ph type="dt" sz="half" idx="10"/>
          </p:nvPr>
        </p:nvSpPr>
        <p:spPr/>
        <p:txBody>
          <a:bodyPr/>
          <a:lstStyle/>
          <a:p>
            <a:fld id="{74D6EF0A-C64A-4D97-8B72-5C7637A96EDC}" type="datetimeFigureOut">
              <a:rPr lang="en-IN" smtClean="0"/>
              <a:t>27-01-2026</a:t>
            </a:fld>
            <a:endParaRPr lang="en-IN"/>
          </a:p>
        </p:txBody>
      </p:sp>
      <p:sp>
        <p:nvSpPr>
          <p:cNvPr id="5" name="Footer Placeholder 4">
            <a:extLst>
              <a:ext uri="{FF2B5EF4-FFF2-40B4-BE49-F238E27FC236}">
                <a16:creationId xmlns:a16="http://schemas.microsoft.com/office/drawing/2014/main" id="{BF9215A6-7F91-D060-E4E9-4BD0BB7FDE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F48534-6566-B942-7AD2-99E227D1412B}"/>
              </a:ext>
            </a:extLst>
          </p:cNvPr>
          <p:cNvSpPr>
            <a:spLocks noGrp="1"/>
          </p:cNvSpPr>
          <p:nvPr>
            <p:ph type="sldNum" sz="quarter" idx="12"/>
          </p:nvPr>
        </p:nvSpPr>
        <p:spPr/>
        <p:txBody>
          <a:bodyPr/>
          <a:lstStyle/>
          <a:p>
            <a:fld id="{3916F082-9954-4A0D-829B-B36750A1F004}" type="slidenum">
              <a:rPr lang="en-IN" smtClean="0"/>
              <a:t>‹#›</a:t>
            </a:fld>
            <a:endParaRPr lang="en-IN"/>
          </a:p>
        </p:txBody>
      </p:sp>
    </p:spTree>
    <p:extLst>
      <p:ext uri="{BB962C8B-B14F-4D97-AF65-F5344CB8AC3E}">
        <p14:creationId xmlns:p14="http://schemas.microsoft.com/office/powerpoint/2010/main" val="3187123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6C315-C027-A1BC-6E1F-57601EE6E0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EE65EF-C109-FA43-5A9D-B1870BFC85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761DD7B-16C3-157D-35BF-A18A08BE58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C69815-B93E-1E5F-EE86-7CC84B829E75}"/>
              </a:ext>
            </a:extLst>
          </p:cNvPr>
          <p:cNvSpPr>
            <a:spLocks noGrp="1"/>
          </p:cNvSpPr>
          <p:nvPr>
            <p:ph type="dt" sz="half" idx="10"/>
          </p:nvPr>
        </p:nvSpPr>
        <p:spPr/>
        <p:txBody>
          <a:bodyPr/>
          <a:lstStyle/>
          <a:p>
            <a:fld id="{74D6EF0A-C64A-4D97-8B72-5C7637A96EDC}" type="datetimeFigureOut">
              <a:rPr lang="en-IN" smtClean="0"/>
              <a:t>27-01-2026</a:t>
            </a:fld>
            <a:endParaRPr lang="en-IN"/>
          </a:p>
        </p:txBody>
      </p:sp>
      <p:sp>
        <p:nvSpPr>
          <p:cNvPr id="6" name="Footer Placeholder 5">
            <a:extLst>
              <a:ext uri="{FF2B5EF4-FFF2-40B4-BE49-F238E27FC236}">
                <a16:creationId xmlns:a16="http://schemas.microsoft.com/office/drawing/2014/main" id="{F1D4AA43-F953-367A-AF01-217864C4EE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32F5FF-7A81-FCCD-2266-BF616BDAFEEE}"/>
              </a:ext>
            </a:extLst>
          </p:cNvPr>
          <p:cNvSpPr>
            <a:spLocks noGrp="1"/>
          </p:cNvSpPr>
          <p:nvPr>
            <p:ph type="sldNum" sz="quarter" idx="12"/>
          </p:nvPr>
        </p:nvSpPr>
        <p:spPr/>
        <p:txBody>
          <a:bodyPr/>
          <a:lstStyle/>
          <a:p>
            <a:fld id="{3916F082-9954-4A0D-829B-B36750A1F004}" type="slidenum">
              <a:rPr lang="en-IN" smtClean="0"/>
              <a:t>‹#›</a:t>
            </a:fld>
            <a:endParaRPr lang="en-IN"/>
          </a:p>
        </p:txBody>
      </p:sp>
    </p:spTree>
    <p:extLst>
      <p:ext uri="{BB962C8B-B14F-4D97-AF65-F5344CB8AC3E}">
        <p14:creationId xmlns:p14="http://schemas.microsoft.com/office/powerpoint/2010/main" val="1308056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19442-69C6-4CB4-2B68-5AD8C4BBF3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301677-B29E-E576-B025-F68F9F5D1E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78F2E8-22C0-4777-60AD-CB1511837E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DB7F2CD-94F9-E237-4251-EFE0ABB711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FFE708-5339-4068-F8EA-78B2CDF039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94D4E12-D87A-8857-DA5E-E4BBACFD3B28}"/>
              </a:ext>
            </a:extLst>
          </p:cNvPr>
          <p:cNvSpPr>
            <a:spLocks noGrp="1"/>
          </p:cNvSpPr>
          <p:nvPr>
            <p:ph type="dt" sz="half" idx="10"/>
          </p:nvPr>
        </p:nvSpPr>
        <p:spPr/>
        <p:txBody>
          <a:bodyPr/>
          <a:lstStyle/>
          <a:p>
            <a:fld id="{74D6EF0A-C64A-4D97-8B72-5C7637A96EDC}" type="datetimeFigureOut">
              <a:rPr lang="en-IN" smtClean="0"/>
              <a:t>27-01-2026</a:t>
            </a:fld>
            <a:endParaRPr lang="en-IN"/>
          </a:p>
        </p:txBody>
      </p:sp>
      <p:sp>
        <p:nvSpPr>
          <p:cNvPr id="8" name="Footer Placeholder 7">
            <a:extLst>
              <a:ext uri="{FF2B5EF4-FFF2-40B4-BE49-F238E27FC236}">
                <a16:creationId xmlns:a16="http://schemas.microsoft.com/office/drawing/2014/main" id="{9C0E9ACF-1E97-D995-9C5B-E19153B52A3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80714BF-0473-1352-79F2-7048C02C9E6C}"/>
              </a:ext>
            </a:extLst>
          </p:cNvPr>
          <p:cNvSpPr>
            <a:spLocks noGrp="1"/>
          </p:cNvSpPr>
          <p:nvPr>
            <p:ph type="sldNum" sz="quarter" idx="12"/>
          </p:nvPr>
        </p:nvSpPr>
        <p:spPr/>
        <p:txBody>
          <a:bodyPr/>
          <a:lstStyle/>
          <a:p>
            <a:fld id="{3916F082-9954-4A0D-829B-B36750A1F004}" type="slidenum">
              <a:rPr lang="en-IN" smtClean="0"/>
              <a:t>‹#›</a:t>
            </a:fld>
            <a:endParaRPr lang="en-IN"/>
          </a:p>
        </p:txBody>
      </p:sp>
    </p:spTree>
    <p:extLst>
      <p:ext uri="{BB962C8B-B14F-4D97-AF65-F5344CB8AC3E}">
        <p14:creationId xmlns:p14="http://schemas.microsoft.com/office/powerpoint/2010/main" val="473773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7BE61-195A-FF04-9C3F-8A85A457F8A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811713-AE5C-68D1-7FA8-B6EF2793B259}"/>
              </a:ext>
            </a:extLst>
          </p:cNvPr>
          <p:cNvSpPr>
            <a:spLocks noGrp="1"/>
          </p:cNvSpPr>
          <p:nvPr>
            <p:ph type="dt" sz="half" idx="10"/>
          </p:nvPr>
        </p:nvSpPr>
        <p:spPr/>
        <p:txBody>
          <a:bodyPr/>
          <a:lstStyle/>
          <a:p>
            <a:fld id="{74D6EF0A-C64A-4D97-8B72-5C7637A96EDC}" type="datetimeFigureOut">
              <a:rPr lang="en-IN" smtClean="0"/>
              <a:t>27-01-2026</a:t>
            </a:fld>
            <a:endParaRPr lang="en-IN"/>
          </a:p>
        </p:txBody>
      </p:sp>
      <p:sp>
        <p:nvSpPr>
          <p:cNvPr id="4" name="Footer Placeholder 3">
            <a:extLst>
              <a:ext uri="{FF2B5EF4-FFF2-40B4-BE49-F238E27FC236}">
                <a16:creationId xmlns:a16="http://schemas.microsoft.com/office/drawing/2014/main" id="{44560EE1-831C-51FC-BAD9-14541E985DB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C46FDD9-D5AF-207E-BC6A-194C08E702B6}"/>
              </a:ext>
            </a:extLst>
          </p:cNvPr>
          <p:cNvSpPr>
            <a:spLocks noGrp="1"/>
          </p:cNvSpPr>
          <p:nvPr>
            <p:ph type="sldNum" sz="quarter" idx="12"/>
          </p:nvPr>
        </p:nvSpPr>
        <p:spPr/>
        <p:txBody>
          <a:bodyPr/>
          <a:lstStyle/>
          <a:p>
            <a:fld id="{3916F082-9954-4A0D-829B-B36750A1F004}" type="slidenum">
              <a:rPr lang="en-IN" smtClean="0"/>
              <a:t>‹#›</a:t>
            </a:fld>
            <a:endParaRPr lang="en-IN"/>
          </a:p>
        </p:txBody>
      </p:sp>
    </p:spTree>
    <p:extLst>
      <p:ext uri="{BB962C8B-B14F-4D97-AF65-F5344CB8AC3E}">
        <p14:creationId xmlns:p14="http://schemas.microsoft.com/office/powerpoint/2010/main" val="2662647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CE5757-7265-7895-106D-E511B96D108A}"/>
              </a:ext>
            </a:extLst>
          </p:cNvPr>
          <p:cNvSpPr>
            <a:spLocks noGrp="1"/>
          </p:cNvSpPr>
          <p:nvPr>
            <p:ph type="dt" sz="half" idx="10"/>
          </p:nvPr>
        </p:nvSpPr>
        <p:spPr/>
        <p:txBody>
          <a:bodyPr/>
          <a:lstStyle/>
          <a:p>
            <a:fld id="{74D6EF0A-C64A-4D97-8B72-5C7637A96EDC}" type="datetimeFigureOut">
              <a:rPr lang="en-IN" smtClean="0"/>
              <a:t>27-01-2026</a:t>
            </a:fld>
            <a:endParaRPr lang="en-IN"/>
          </a:p>
        </p:txBody>
      </p:sp>
      <p:sp>
        <p:nvSpPr>
          <p:cNvPr id="3" name="Footer Placeholder 2">
            <a:extLst>
              <a:ext uri="{FF2B5EF4-FFF2-40B4-BE49-F238E27FC236}">
                <a16:creationId xmlns:a16="http://schemas.microsoft.com/office/drawing/2014/main" id="{1CD67447-B6E4-E2D8-5D05-FF114676A28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A58E690-41A8-7E5B-0BBD-8C2C0CE550A5}"/>
              </a:ext>
            </a:extLst>
          </p:cNvPr>
          <p:cNvSpPr>
            <a:spLocks noGrp="1"/>
          </p:cNvSpPr>
          <p:nvPr>
            <p:ph type="sldNum" sz="quarter" idx="12"/>
          </p:nvPr>
        </p:nvSpPr>
        <p:spPr/>
        <p:txBody>
          <a:bodyPr/>
          <a:lstStyle/>
          <a:p>
            <a:fld id="{3916F082-9954-4A0D-829B-B36750A1F004}" type="slidenum">
              <a:rPr lang="en-IN" smtClean="0"/>
              <a:t>‹#›</a:t>
            </a:fld>
            <a:endParaRPr lang="en-IN"/>
          </a:p>
        </p:txBody>
      </p:sp>
    </p:spTree>
    <p:extLst>
      <p:ext uri="{BB962C8B-B14F-4D97-AF65-F5344CB8AC3E}">
        <p14:creationId xmlns:p14="http://schemas.microsoft.com/office/powerpoint/2010/main" val="508664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3BBBD-8181-E67D-3019-93D670D68F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06B46C6-FD85-97B6-65A3-8FF9469210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91C2154-8734-0F9E-BFBC-325E0B8CA1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CA95F-C35B-9CDA-A699-7B8225BE1F07}"/>
              </a:ext>
            </a:extLst>
          </p:cNvPr>
          <p:cNvSpPr>
            <a:spLocks noGrp="1"/>
          </p:cNvSpPr>
          <p:nvPr>
            <p:ph type="dt" sz="half" idx="10"/>
          </p:nvPr>
        </p:nvSpPr>
        <p:spPr/>
        <p:txBody>
          <a:bodyPr/>
          <a:lstStyle/>
          <a:p>
            <a:fld id="{74D6EF0A-C64A-4D97-8B72-5C7637A96EDC}" type="datetimeFigureOut">
              <a:rPr lang="en-IN" smtClean="0"/>
              <a:t>27-01-2026</a:t>
            </a:fld>
            <a:endParaRPr lang="en-IN"/>
          </a:p>
        </p:txBody>
      </p:sp>
      <p:sp>
        <p:nvSpPr>
          <p:cNvPr id="6" name="Footer Placeholder 5">
            <a:extLst>
              <a:ext uri="{FF2B5EF4-FFF2-40B4-BE49-F238E27FC236}">
                <a16:creationId xmlns:a16="http://schemas.microsoft.com/office/drawing/2014/main" id="{5815471D-B972-FB74-6493-FAE2826F5A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202FF6-CE9F-8A78-AF68-9305AF712B9F}"/>
              </a:ext>
            </a:extLst>
          </p:cNvPr>
          <p:cNvSpPr>
            <a:spLocks noGrp="1"/>
          </p:cNvSpPr>
          <p:nvPr>
            <p:ph type="sldNum" sz="quarter" idx="12"/>
          </p:nvPr>
        </p:nvSpPr>
        <p:spPr/>
        <p:txBody>
          <a:bodyPr/>
          <a:lstStyle/>
          <a:p>
            <a:fld id="{3916F082-9954-4A0D-829B-B36750A1F004}" type="slidenum">
              <a:rPr lang="en-IN" smtClean="0"/>
              <a:t>‹#›</a:t>
            </a:fld>
            <a:endParaRPr lang="en-IN"/>
          </a:p>
        </p:txBody>
      </p:sp>
    </p:spTree>
    <p:extLst>
      <p:ext uri="{BB962C8B-B14F-4D97-AF65-F5344CB8AC3E}">
        <p14:creationId xmlns:p14="http://schemas.microsoft.com/office/powerpoint/2010/main" val="3443827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CE3BE-B796-2895-6DF2-C7FAC97CB8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F12E60A-5122-4955-6E3D-8259763D39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557625-94F8-4152-4BAF-600289922F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1097B8-F912-6E8A-B4A5-EE3C75595FF9}"/>
              </a:ext>
            </a:extLst>
          </p:cNvPr>
          <p:cNvSpPr>
            <a:spLocks noGrp="1"/>
          </p:cNvSpPr>
          <p:nvPr>
            <p:ph type="dt" sz="half" idx="10"/>
          </p:nvPr>
        </p:nvSpPr>
        <p:spPr/>
        <p:txBody>
          <a:bodyPr/>
          <a:lstStyle/>
          <a:p>
            <a:fld id="{74D6EF0A-C64A-4D97-8B72-5C7637A96EDC}" type="datetimeFigureOut">
              <a:rPr lang="en-IN" smtClean="0"/>
              <a:t>27-01-2026</a:t>
            </a:fld>
            <a:endParaRPr lang="en-IN"/>
          </a:p>
        </p:txBody>
      </p:sp>
      <p:sp>
        <p:nvSpPr>
          <p:cNvPr id="6" name="Footer Placeholder 5">
            <a:extLst>
              <a:ext uri="{FF2B5EF4-FFF2-40B4-BE49-F238E27FC236}">
                <a16:creationId xmlns:a16="http://schemas.microsoft.com/office/drawing/2014/main" id="{53772F2C-729C-A9A2-E2B6-A3A6B663F7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893807-D2AB-659F-7486-EB86D6BC8787}"/>
              </a:ext>
            </a:extLst>
          </p:cNvPr>
          <p:cNvSpPr>
            <a:spLocks noGrp="1"/>
          </p:cNvSpPr>
          <p:nvPr>
            <p:ph type="sldNum" sz="quarter" idx="12"/>
          </p:nvPr>
        </p:nvSpPr>
        <p:spPr/>
        <p:txBody>
          <a:bodyPr/>
          <a:lstStyle/>
          <a:p>
            <a:fld id="{3916F082-9954-4A0D-829B-B36750A1F004}" type="slidenum">
              <a:rPr lang="en-IN" smtClean="0"/>
              <a:t>‹#›</a:t>
            </a:fld>
            <a:endParaRPr lang="en-IN"/>
          </a:p>
        </p:txBody>
      </p:sp>
    </p:spTree>
    <p:extLst>
      <p:ext uri="{BB962C8B-B14F-4D97-AF65-F5344CB8AC3E}">
        <p14:creationId xmlns:p14="http://schemas.microsoft.com/office/powerpoint/2010/main" val="1165807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4B593-20AC-1782-E78E-5751BF06E7C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D91FB44-2DBB-36A7-ECC6-D397AF546A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4B1F0D-8144-50A2-3E12-4EB74486DF70}"/>
              </a:ext>
            </a:extLst>
          </p:cNvPr>
          <p:cNvSpPr>
            <a:spLocks noGrp="1"/>
          </p:cNvSpPr>
          <p:nvPr>
            <p:ph type="dt" sz="half" idx="10"/>
          </p:nvPr>
        </p:nvSpPr>
        <p:spPr/>
        <p:txBody>
          <a:bodyPr/>
          <a:lstStyle/>
          <a:p>
            <a:fld id="{74D6EF0A-C64A-4D97-8B72-5C7637A96EDC}" type="datetimeFigureOut">
              <a:rPr lang="en-IN" smtClean="0"/>
              <a:t>27-01-2026</a:t>
            </a:fld>
            <a:endParaRPr lang="en-IN"/>
          </a:p>
        </p:txBody>
      </p:sp>
      <p:sp>
        <p:nvSpPr>
          <p:cNvPr id="5" name="Footer Placeholder 4">
            <a:extLst>
              <a:ext uri="{FF2B5EF4-FFF2-40B4-BE49-F238E27FC236}">
                <a16:creationId xmlns:a16="http://schemas.microsoft.com/office/drawing/2014/main" id="{FF4C36C1-D4DC-9698-E45B-CF24418EFF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70CC8C-3EB8-D93C-E4BC-A455B4E1777D}"/>
              </a:ext>
            </a:extLst>
          </p:cNvPr>
          <p:cNvSpPr>
            <a:spLocks noGrp="1"/>
          </p:cNvSpPr>
          <p:nvPr>
            <p:ph type="sldNum" sz="quarter" idx="12"/>
          </p:nvPr>
        </p:nvSpPr>
        <p:spPr/>
        <p:txBody>
          <a:bodyPr/>
          <a:lstStyle/>
          <a:p>
            <a:fld id="{3916F082-9954-4A0D-829B-B36750A1F004}" type="slidenum">
              <a:rPr lang="en-IN" smtClean="0"/>
              <a:t>‹#›</a:t>
            </a:fld>
            <a:endParaRPr lang="en-IN"/>
          </a:p>
        </p:txBody>
      </p:sp>
    </p:spTree>
    <p:extLst>
      <p:ext uri="{BB962C8B-B14F-4D97-AF65-F5344CB8AC3E}">
        <p14:creationId xmlns:p14="http://schemas.microsoft.com/office/powerpoint/2010/main" val="975748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61BD3A-CC87-C37D-4FC2-996B705CD9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78E32B-1EC7-E7A1-7504-4DBAB88E72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1B269E-428B-E339-A30A-1315BF309065}"/>
              </a:ext>
            </a:extLst>
          </p:cNvPr>
          <p:cNvSpPr>
            <a:spLocks noGrp="1"/>
          </p:cNvSpPr>
          <p:nvPr>
            <p:ph type="dt" sz="half" idx="10"/>
          </p:nvPr>
        </p:nvSpPr>
        <p:spPr/>
        <p:txBody>
          <a:bodyPr/>
          <a:lstStyle/>
          <a:p>
            <a:fld id="{74D6EF0A-C64A-4D97-8B72-5C7637A96EDC}" type="datetimeFigureOut">
              <a:rPr lang="en-IN" smtClean="0"/>
              <a:t>27-01-2026</a:t>
            </a:fld>
            <a:endParaRPr lang="en-IN"/>
          </a:p>
        </p:txBody>
      </p:sp>
      <p:sp>
        <p:nvSpPr>
          <p:cNvPr id="5" name="Footer Placeholder 4">
            <a:extLst>
              <a:ext uri="{FF2B5EF4-FFF2-40B4-BE49-F238E27FC236}">
                <a16:creationId xmlns:a16="http://schemas.microsoft.com/office/drawing/2014/main" id="{90BB5A23-F266-FD89-1358-87B98B9037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F72EBD-6C80-317C-2F5C-44548CD1239F}"/>
              </a:ext>
            </a:extLst>
          </p:cNvPr>
          <p:cNvSpPr>
            <a:spLocks noGrp="1"/>
          </p:cNvSpPr>
          <p:nvPr>
            <p:ph type="sldNum" sz="quarter" idx="12"/>
          </p:nvPr>
        </p:nvSpPr>
        <p:spPr/>
        <p:txBody>
          <a:bodyPr/>
          <a:lstStyle/>
          <a:p>
            <a:fld id="{3916F082-9954-4A0D-829B-B36750A1F004}" type="slidenum">
              <a:rPr lang="en-IN" smtClean="0"/>
              <a:t>‹#›</a:t>
            </a:fld>
            <a:endParaRPr lang="en-IN"/>
          </a:p>
        </p:txBody>
      </p:sp>
    </p:spTree>
    <p:extLst>
      <p:ext uri="{BB962C8B-B14F-4D97-AF65-F5344CB8AC3E}">
        <p14:creationId xmlns:p14="http://schemas.microsoft.com/office/powerpoint/2010/main" val="2394473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7957C7-3924-0971-C261-A7791A841F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77DFBF-C4CA-38EA-315B-E465029760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93589A-3667-6DC2-B3F2-84437A5B4B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D6EF0A-C64A-4D97-8B72-5C7637A96EDC}" type="datetimeFigureOut">
              <a:rPr lang="en-IN" smtClean="0"/>
              <a:t>27-01-2026</a:t>
            </a:fld>
            <a:endParaRPr lang="en-IN"/>
          </a:p>
        </p:txBody>
      </p:sp>
      <p:sp>
        <p:nvSpPr>
          <p:cNvPr id="5" name="Footer Placeholder 4">
            <a:extLst>
              <a:ext uri="{FF2B5EF4-FFF2-40B4-BE49-F238E27FC236}">
                <a16:creationId xmlns:a16="http://schemas.microsoft.com/office/drawing/2014/main" id="{6C158A5B-E092-E252-DDB5-C6CA7BBA80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E590D74-04D5-F079-40EA-E9F3A58EFB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16F082-9954-4A0D-829B-B36750A1F004}" type="slidenum">
              <a:rPr lang="en-IN" smtClean="0"/>
              <a:t>‹#›</a:t>
            </a:fld>
            <a:endParaRPr lang="en-IN"/>
          </a:p>
        </p:txBody>
      </p:sp>
    </p:spTree>
    <p:extLst>
      <p:ext uri="{BB962C8B-B14F-4D97-AF65-F5344CB8AC3E}">
        <p14:creationId xmlns:p14="http://schemas.microsoft.com/office/powerpoint/2010/main" val="11744144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medium.com/analytics-vidhya/regularization-understanding-l1-and-l2-regularization-for-deep-learning-a7b9e4a409bf"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clrn.org/what-is-learning-rate-in-machine-learnin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medium.com/low-code-for-advanced-data-science/xgboost-explained-a-beginners-guide-095464ad418f" TargetMode="External"/><Relationship Id="rId7" Type="http://schemas.openxmlformats.org/officeDocument/2006/relationships/hyperlink" Target="https://www.clrn.org/what-is-learning-rate-in-machine-learning/" TargetMode="External"/><Relationship Id="rId2" Type="http://schemas.openxmlformats.org/officeDocument/2006/relationships/hyperlink" Target="https://www.geeksforgeeks.org/machine-learning/xgboost/" TargetMode="External"/><Relationship Id="rId1" Type="http://schemas.openxmlformats.org/officeDocument/2006/relationships/slideLayout" Target="../slideLayouts/slideLayout2.xml"/><Relationship Id="rId6" Type="http://schemas.openxmlformats.org/officeDocument/2006/relationships/hyperlink" Target="https://www.simplilearn.com/what-is-xgboost-algorithm-in-machine-learning-article" TargetMode="External"/><Relationship Id="rId5" Type="http://schemas.openxmlformats.org/officeDocument/2006/relationships/hyperlink" Target="https://medium.com/analytics-vidhya/regularization-understanding-l1-and-l2-regularization-for-deep-learning-a7b9e4a409bf" TargetMode="External"/><Relationship Id="rId4" Type="http://schemas.openxmlformats.org/officeDocument/2006/relationships/hyperlink" Target="https://www.analyticsvidhya.com/blog/2018/09/an-end-to-end-guide-to-understand-the-math-behind-xgboos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A3C19-1DDF-7681-5DB8-C5F677383431}"/>
              </a:ext>
            </a:extLst>
          </p:cNvPr>
          <p:cNvSpPr>
            <a:spLocks noGrp="1"/>
          </p:cNvSpPr>
          <p:nvPr>
            <p:ph type="ctrTitle"/>
          </p:nvPr>
        </p:nvSpPr>
        <p:spPr/>
        <p:txBody>
          <a:bodyPr/>
          <a:lstStyle/>
          <a:p>
            <a:r>
              <a:rPr lang="en-IN" dirty="0"/>
              <a:t>XG-Boost</a:t>
            </a:r>
          </a:p>
        </p:txBody>
      </p:sp>
      <p:sp>
        <p:nvSpPr>
          <p:cNvPr id="3" name="Subtitle 2">
            <a:extLst>
              <a:ext uri="{FF2B5EF4-FFF2-40B4-BE49-F238E27FC236}">
                <a16:creationId xmlns:a16="http://schemas.microsoft.com/office/drawing/2014/main" id="{E985A378-292F-9CFC-E8F6-69B30920CD3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564163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982FD-E0AC-DE96-CCAD-689034E4229A}"/>
              </a:ext>
            </a:extLst>
          </p:cNvPr>
          <p:cNvSpPr>
            <a:spLocks noGrp="1"/>
          </p:cNvSpPr>
          <p:nvPr>
            <p:ph type="title"/>
          </p:nvPr>
        </p:nvSpPr>
        <p:spPr/>
        <p:txBody>
          <a:bodyPr/>
          <a:lstStyle/>
          <a:p>
            <a:r>
              <a:rPr lang="en-IN" b="1" dirty="0"/>
              <a:t>Introduction</a:t>
            </a:r>
          </a:p>
        </p:txBody>
      </p:sp>
      <p:sp>
        <p:nvSpPr>
          <p:cNvPr id="3" name="Content Placeholder 2">
            <a:extLst>
              <a:ext uri="{FF2B5EF4-FFF2-40B4-BE49-F238E27FC236}">
                <a16:creationId xmlns:a16="http://schemas.microsoft.com/office/drawing/2014/main" id="{714DA325-44B2-461C-2604-363814CBFED1}"/>
              </a:ext>
            </a:extLst>
          </p:cNvPr>
          <p:cNvSpPr>
            <a:spLocks noGrp="1"/>
          </p:cNvSpPr>
          <p:nvPr>
            <p:ph idx="1"/>
          </p:nvPr>
        </p:nvSpPr>
        <p:spPr>
          <a:xfrm>
            <a:off x="838200" y="1544320"/>
            <a:ext cx="10515600" cy="4632643"/>
          </a:xfrm>
        </p:spPr>
        <p:txBody>
          <a:bodyPr/>
          <a:lstStyle/>
          <a:p>
            <a:pPr algn="just"/>
            <a:r>
              <a:rPr lang="en-US" dirty="0"/>
              <a:t>XGBoost  (</a:t>
            </a:r>
            <a:r>
              <a:rPr lang="en-US" dirty="0" err="1"/>
              <a:t>eXtreme</a:t>
            </a:r>
            <a:r>
              <a:rPr lang="en-US" dirty="0"/>
              <a:t> Gradient Boosting) is an advanced machine learning algorithm designed for efficiency, speed and high performance.</a:t>
            </a:r>
          </a:p>
          <a:p>
            <a:pPr algn="just"/>
            <a:r>
              <a:rPr lang="en-US" dirty="0"/>
              <a:t>It is an optimized implementation of </a:t>
            </a:r>
            <a:r>
              <a:rPr lang="en-US" b="1" u="sng" dirty="0"/>
              <a:t>Gradient Boosting</a:t>
            </a:r>
            <a:r>
              <a:rPr lang="en-US" dirty="0"/>
              <a:t> and is a type of </a:t>
            </a:r>
            <a:r>
              <a:rPr lang="en-US" b="1" u="sng" dirty="0"/>
              <a:t>ensemble learning</a:t>
            </a:r>
            <a:r>
              <a:rPr lang="en-US" dirty="0"/>
              <a:t> method that combines multiple weak models to form a stronger model.</a:t>
            </a:r>
          </a:p>
          <a:p>
            <a:pPr algn="just"/>
            <a:r>
              <a:rPr lang="en-US" dirty="0"/>
              <a:t>XGBoost uses </a:t>
            </a:r>
            <a:r>
              <a:rPr lang="en-US" b="1" u="sng" dirty="0"/>
              <a:t>decision trees</a:t>
            </a:r>
            <a:r>
              <a:rPr lang="en-US" dirty="0"/>
              <a:t> as its base learners and combines them sequentially to improve the model’s performance. Each new tree is trained to correct the errors made by the previous tree and this process is called </a:t>
            </a:r>
            <a:r>
              <a:rPr lang="en-US" u="sng" dirty="0"/>
              <a:t>boosting</a:t>
            </a:r>
            <a:r>
              <a:rPr lang="en-US" dirty="0"/>
              <a:t>.</a:t>
            </a:r>
          </a:p>
          <a:p>
            <a:pPr algn="just"/>
            <a:endParaRPr lang="en-IN" dirty="0"/>
          </a:p>
        </p:txBody>
      </p:sp>
    </p:spTree>
    <p:extLst>
      <p:ext uri="{BB962C8B-B14F-4D97-AF65-F5344CB8AC3E}">
        <p14:creationId xmlns:p14="http://schemas.microsoft.com/office/powerpoint/2010/main" val="3185081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FBB13-18C4-3D24-0C56-F4882D849226}"/>
              </a:ext>
            </a:extLst>
          </p:cNvPr>
          <p:cNvSpPr>
            <a:spLocks noGrp="1"/>
          </p:cNvSpPr>
          <p:nvPr>
            <p:ph type="title"/>
          </p:nvPr>
        </p:nvSpPr>
        <p:spPr/>
        <p:txBody>
          <a:bodyPr/>
          <a:lstStyle/>
          <a:p>
            <a:r>
              <a:rPr lang="en-IN" b="1" dirty="0"/>
              <a:t>Working of the model</a:t>
            </a:r>
          </a:p>
        </p:txBody>
      </p:sp>
      <p:sp>
        <p:nvSpPr>
          <p:cNvPr id="3" name="Content Placeholder 2">
            <a:extLst>
              <a:ext uri="{FF2B5EF4-FFF2-40B4-BE49-F238E27FC236}">
                <a16:creationId xmlns:a16="http://schemas.microsoft.com/office/drawing/2014/main" id="{27F6C822-32AC-8DAF-3046-62C0A85B2CC5}"/>
              </a:ext>
            </a:extLst>
          </p:cNvPr>
          <p:cNvSpPr>
            <a:spLocks noGrp="1"/>
          </p:cNvSpPr>
          <p:nvPr>
            <p:ph idx="1"/>
          </p:nvPr>
        </p:nvSpPr>
        <p:spPr/>
        <p:txBody>
          <a:bodyPr>
            <a:normAutofit fontScale="92500" lnSpcReduction="10000"/>
          </a:bodyPr>
          <a:lstStyle/>
          <a:p>
            <a:pPr algn="just" fontAlgn="base"/>
            <a:r>
              <a:rPr lang="en-US" b="1" dirty="0"/>
              <a:t>Start with a base learner</a:t>
            </a:r>
            <a:r>
              <a:rPr lang="en-US" dirty="0"/>
              <a:t>: The first model decision tree is trained on the data. In regression tasks this base model simply predicts the average of the target variable.</a:t>
            </a:r>
          </a:p>
          <a:p>
            <a:pPr algn="just" fontAlgn="base"/>
            <a:r>
              <a:rPr lang="en-US" b="1" dirty="0"/>
              <a:t>Calculate the errors</a:t>
            </a:r>
            <a:r>
              <a:rPr lang="en-US" dirty="0"/>
              <a:t>: After training the first tree the errors between the predicted and actual values are calculated.</a:t>
            </a:r>
          </a:p>
          <a:p>
            <a:pPr algn="just" fontAlgn="base"/>
            <a:r>
              <a:rPr lang="en-US" b="1" dirty="0"/>
              <a:t>Train the next tree</a:t>
            </a:r>
            <a:r>
              <a:rPr lang="en-US" dirty="0"/>
              <a:t>: The next tree is trained on the errors of the previous tree. This step attempts to correct the errors made by the first tree.</a:t>
            </a:r>
          </a:p>
          <a:p>
            <a:pPr algn="just" fontAlgn="base"/>
            <a:r>
              <a:rPr lang="en-US" b="1" dirty="0"/>
              <a:t>Repeat the process</a:t>
            </a:r>
            <a:r>
              <a:rPr lang="en-US" dirty="0"/>
              <a:t>: This process continues with each new tree trying to correct the errors of the previous trees until a stopping criterion is met.</a:t>
            </a:r>
          </a:p>
          <a:p>
            <a:pPr algn="just" fontAlgn="base"/>
            <a:r>
              <a:rPr lang="en-US" b="1" dirty="0"/>
              <a:t>Combine the predictions</a:t>
            </a:r>
            <a:r>
              <a:rPr lang="en-US" dirty="0"/>
              <a:t>: The final prediction is the sum of the predictions from all the trees.</a:t>
            </a:r>
          </a:p>
          <a:p>
            <a:pPr marL="0" indent="0" algn="just">
              <a:buNone/>
            </a:pPr>
            <a:endParaRPr lang="en-IN" dirty="0"/>
          </a:p>
        </p:txBody>
      </p:sp>
    </p:spTree>
    <p:extLst>
      <p:ext uri="{BB962C8B-B14F-4D97-AF65-F5344CB8AC3E}">
        <p14:creationId xmlns:p14="http://schemas.microsoft.com/office/powerpoint/2010/main" val="3960667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05146-D149-6B85-BF62-D31364D8057E}"/>
              </a:ext>
            </a:extLst>
          </p:cNvPr>
          <p:cNvSpPr>
            <a:spLocks noGrp="1"/>
          </p:cNvSpPr>
          <p:nvPr>
            <p:ph type="title"/>
          </p:nvPr>
        </p:nvSpPr>
        <p:spPr>
          <a:xfrm>
            <a:off x="838200" y="365125"/>
            <a:ext cx="10515600" cy="965835"/>
          </a:xfrm>
        </p:spPr>
        <p:txBody>
          <a:bodyPr/>
          <a:lstStyle/>
          <a:p>
            <a:r>
              <a:rPr lang="en-IN" b="1" dirty="0"/>
              <a:t>Working of the model (cont.)</a:t>
            </a:r>
            <a:endParaRPr lang="en-IN" dirty="0"/>
          </a:p>
        </p:txBody>
      </p:sp>
      <p:sp>
        <p:nvSpPr>
          <p:cNvPr id="3" name="Content Placeholder 2">
            <a:extLst>
              <a:ext uri="{FF2B5EF4-FFF2-40B4-BE49-F238E27FC236}">
                <a16:creationId xmlns:a16="http://schemas.microsoft.com/office/drawing/2014/main" id="{81ECD45C-FE1A-BE52-CBF8-C9AC3DEF463B}"/>
              </a:ext>
            </a:extLst>
          </p:cNvPr>
          <p:cNvSpPr>
            <a:spLocks noGrp="1"/>
          </p:cNvSpPr>
          <p:nvPr>
            <p:ph idx="1"/>
          </p:nvPr>
        </p:nvSpPr>
        <p:spPr>
          <a:xfrm>
            <a:off x="838200" y="1554480"/>
            <a:ext cx="10515600" cy="4622483"/>
          </a:xfrm>
        </p:spPr>
        <p:txBody>
          <a:bodyPr/>
          <a:lstStyle/>
          <a:p>
            <a:r>
              <a:rPr lang="en-US" dirty="0"/>
              <a:t>It is an iterative process which start with an initial prediction set to zero. </a:t>
            </a:r>
          </a:p>
          <a:p>
            <a:r>
              <a:rPr lang="en-US" dirty="0"/>
              <a:t>After which each tree is added to reduce errors. </a:t>
            </a:r>
          </a:p>
          <a:p>
            <a:pPr marL="0" indent="0">
              <a:buNone/>
            </a:pPr>
            <a:r>
              <a:rPr lang="en-US" dirty="0"/>
              <a:t>Mathematical representation of the model </a:t>
            </a:r>
          </a:p>
          <a:p>
            <a:pPr marL="0" indent="0">
              <a:buNone/>
            </a:pPr>
            <a:endParaRPr lang="en-IN" dirty="0"/>
          </a:p>
        </p:txBody>
      </p:sp>
      <p:pic>
        <p:nvPicPr>
          <p:cNvPr id="5" name="Picture 4">
            <a:extLst>
              <a:ext uri="{FF2B5EF4-FFF2-40B4-BE49-F238E27FC236}">
                <a16:creationId xmlns:a16="http://schemas.microsoft.com/office/drawing/2014/main" id="{0A35661D-1020-EC9B-FFB4-BF2BD22D882F}"/>
              </a:ext>
            </a:extLst>
          </p:cNvPr>
          <p:cNvPicPr>
            <a:picLocks noChangeAspect="1"/>
          </p:cNvPicPr>
          <p:nvPr/>
        </p:nvPicPr>
        <p:blipFill>
          <a:blip r:embed="rId2"/>
          <a:stretch>
            <a:fillRect/>
          </a:stretch>
        </p:blipFill>
        <p:spPr>
          <a:xfrm>
            <a:off x="2350445" y="3486870"/>
            <a:ext cx="7491109" cy="2690093"/>
          </a:xfrm>
          <a:prstGeom prst="rect">
            <a:avLst/>
          </a:prstGeom>
        </p:spPr>
      </p:pic>
    </p:spTree>
    <p:extLst>
      <p:ext uri="{BB962C8B-B14F-4D97-AF65-F5344CB8AC3E}">
        <p14:creationId xmlns:p14="http://schemas.microsoft.com/office/powerpoint/2010/main" val="3715553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EA560-3AE5-699E-272F-92353AEEDD3A}"/>
              </a:ext>
            </a:extLst>
          </p:cNvPr>
          <p:cNvSpPr>
            <a:spLocks noGrp="1"/>
          </p:cNvSpPr>
          <p:nvPr>
            <p:ph type="title"/>
          </p:nvPr>
        </p:nvSpPr>
        <p:spPr/>
        <p:txBody>
          <a:bodyPr/>
          <a:lstStyle/>
          <a:p>
            <a:r>
              <a:rPr lang="en-IN" b="1" dirty="0"/>
              <a:t>Objective function</a:t>
            </a:r>
          </a:p>
        </p:txBody>
      </p:sp>
      <p:sp>
        <p:nvSpPr>
          <p:cNvPr id="3" name="Content Placeholder 2">
            <a:extLst>
              <a:ext uri="{FF2B5EF4-FFF2-40B4-BE49-F238E27FC236}">
                <a16:creationId xmlns:a16="http://schemas.microsoft.com/office/drawing/2014/main" id="{2F4350D8-6936-4450-DDBF-EA96D362DD34}"/>
              </a:ext>
            </a:extLst>
          </p:cNvPr>
          <p:cNvSpPr>
            <a:spLocks noGrp="1"/>
          </p:cNvSpPr>
          <p:nvPr>
            <p:ph idx="1"/>
          </p:nvPr>
        </p:nvSpPr>
        <p:spPr>
          <a:xfrm>
            <a:off x="838200" y="1402080"/>
            <a:ext cx="10515600" cy="4774883"/>
          </a:xfrm>
        </p:spPr>
        <p:txBody>
          <a:bodyPr/>
          <a:lstStyle/>
          <a:p>
            <a:pPr marL="0" indent="0">
              <a:buNone/>
            </a:pPr>
            <a:r>
              <a:rPr lang="en-US" dirty="0"/>
              <a:t>The objective function in XGBoost consists of two parts: </a:t>
            </a:r>
          </a:p>
          <a:p>
            <a:pPr marL="514350" indent="-514350" algn="just">
              <a:buFont typeface="+mj-lt"/>
              <a:buAutoNum type="arabicPeriod"/>
            </a:pPr>
            <a:r>
              <a:rPr lang="en-US" b="1" dirty="0"/>
              <a:t>a loss function </a:t>
            </a:r>
            <a:r>
              <a:rPr lang="en-US" dirty="0"/>
              <a:t>– this measures how well the model fits the data </a:t>
            </a:r>
          </a:p>
          <a:p>
            <a:pPr marL="514350" indent="-514350" algn="just">
              <a:buFont typeface="+mj-lt"/>
              <a:buAutoNum type="arabicPeriod"/>
            </a:pPr>
            <a:r>
              <a:rPr lang="en-US" b="1" dirty="0"/>
              <a:t>a regularization term </a:t>
            </a:r>
            <a:r>
              <a:rPr lang="en-US" dirty="0"/>
              <a:t>- simplifies complex trees</a:t>
            </a:r>
          </a:p>
          <a:p>
            <a:pPr marL="514350" indent="-514350">
              <a:buFont typeface="+mj-lt"/>
              <a:buAutoNum type="arabicPeriod"/>
            </a:pPr>
            <a:endParaRPr lang="en-IN" dirty="0"/>
          </a:p>
        </p:txBody>
      </p:sp>
      <p:pic>
        <p:nvPicPr>
          <p:cNvPr id="5" name="Picture 4">
            <a:extLst>
              <a:ext uri="{FF2B5EF4-FFF2-40B4-BE49-F238E27FC236}">
                <a16:creationId xmlns:a16="http://schemas.microsoft.com/office/drawing/2014/main" id="{78D025BA-A66C-A7B1-13BF-5EA49A8128B7}"/>
              </a:ext>
            </a:extLst>
          </p:cNvPr>
          <p:cNvPicPr>
            <a:picLocks noChangeAspect="1"/>
          </p:cNvPicPr>
          <p:nvPr/>
        </p:nvPicPr>
        <p:blipFill>
          <a:blip r:embed="rId2"/>
          <a:stretch>
            <a:fillRect/>
          </a:stretch>
        </p:blipFill>
        <p:spPr>
          <a:xfrm>
            <a:off x="1026160" y="2962776"/>
            <a:ext cx="9672320" cy="3086367"/>
          </a:xfrm>
          <a:prstGeom prst="rect">
            <a:avLst/>
          </a:prstGeom>
        </p:spPr>
      </p:pic>
    </p:spTree>
    <p:extLst>
      <p:ext uri="{BB962C8B-B14F-4D97-AF65-F5344CB8AC3E}">
        <p14:creationId xmlns:p14="http://schemas.microsoft.com/office/powerpoint/2010/main" val="2877310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72FB0-646D-E9C8-781C-6233E8F2EA52}"/>
              </a:ext>
            </a:extLst>
          </p:cNvPr>
          <p:cNvSpPr>
            <a:spLocks noGrp="1"/>
          </p:cNvSpPr>
          <p:nvPr>
            <p:ph type="title"/>
          </p:nvPr>
        </p:nvSpPr>
        <p:spPr/>
        <p:txBody>
          <a:bodyPr/>
          <a:lstStyle/>
          <a:p>
            <a:r>
              <a:rPr lang="en-IN" b="1" dirty="0"/>
              <a:t>Loss Function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AC2A331-2448-F096-7886-87FE51E7A090}"/>
                  </a:ext>
                </a:extLst>
              </p:cNvPr>
              <p:cNvSpPr>
                <a:spLocks noGrp="1"/>
              </p:cNvSpPr>
              <p:nvPr>
                <p:ph idx="1"/>
              </p:nvPr>
            </p:nvSpPr>
            <p:spPr/>
            <p:txBody>
              <a:bodyPr>
                <a:normAutofit fontScale="92500" lnSpcReduction="10000"/>
              </a:bodyPr>
              <a:lstStyle/>
              <a:p>
                <a:pPr marL="0" indent="0">
                  <a:buNone/>
                </a:pPr>
                <a:r>
                  <a:rPr lang="en-IN" dirty="0"/>
                  <a:t>For </a:t>
                </a:r>
                <a:r>
                  <a:rPr lang="en-IN" b="1" dirty="0"/>
                  <a:t>N observations</a:t>
                </a:r>
                <a:r>
                  <a:rPr lang="en-IN" dirty="0"/>
                  <a:t>:</a:t>
                </a:r>
              </a:p>
              <a:p>
                <a:pPr marL="0" indent="0">
                  <a:buNone/>
                </a:pPr>
                <a:r>
                  <a:rPr lang="en-IN" dirty="0"/>
                  <a:t>Log Loss used for Binary Classification</a:t>
                </a:r>
              </a:p>
              <a:p>
                <a:pPr marL="0" indent="0">
                  <a:buNone/>
                </a:pPr>
                <a:endParaRPr lang="en-IN" dirty="0"/>
              </a:p>
              <a:p>
                <a:pPr marL="0" indent="0">
                  <a:buNone/>
                </a:pPr>
                <a14:m>
                  <m:oMathPara xmlns:m="http://schemas.openxmlformats.org/officeDocument/2006/math">
                    <m:oMathParaPr>
                      <m:jc m:val="centerGroup"/>
                    </m:oMathParaPr>
                    <m:oMath xmlns:m="http://schemas.openxmlformats.org/officeDocument/2006/math">
                      <m:borderBox>
                        <m:borderBoxPr>
                          <m:ctrlPr>
                            <a:rPr lang="ar-AE"/>
                          </m:ctrlPr>
                        </m:borderBoxPr>
                        <m:e>
                          <m:r>
                            <m:rPr>
                              <m:nor/>
                            </m:rPr>
                            <a:rPr lang="en-IN" b="0"/>
                            <m:t>Log</m:t>
                          </m:r>
                          <m:r>
                            <m:rPr>
                              <m:nor/>
                            </m:rPr>
                            <a:rPr lang="en-IN" b="0" i="1"/>
                            <m:t> </m:t>
                          </m:r>
                          <m:r>
                            <m:rPr>
                              <m:nor/>
                            </m:rPr>
                            <a:rPr lang="en-IN" b="0" i="1"/>
                            <m:t>Loss</m:t>
                          </m:r>
                          <m:r>
                            <a:rPr lang="en-IN"/>
                            <m:t>=−</m:t>
                          </m:r>
                          <m:f>
                            <m:fPr>
                              <m:ctrlPr>
                                <a:rPr lang="ar-AE" i="1"/>
                              </m:ctrlPr>
                            </m:fPr>
                            <m:num>
                              <m:r>
                                <a:rPr lang="ar-AE"/>
                                <m:t>1</m:t>
                              </m:r>
                            </m:num>
                            <m:den>
                              <m:r>
                                <a:rPr lang="ar-AE" i="1"/>
                                <m:t>𝑁</m:t>
                              </m:r>
                            </m:den>
                          </m:f>
                          <m:nary>
                            <m:naryPr>
                              <m:chr m:val="∑"/>
                              <m:grow m:val="on"/>
                              <m:ctrlPr>
                                <a:rPr lang="ar-AE" i="1"/>
                              </m:ctrlPr>
                            </m:naryPr>
                            <m:sub>
                              <m:r>
                                <a:rPr lang="ar-AE" i="1"/>
                                <m:t>𝑖</m:t>
                              </m:r>
                              <m:r>
                                <a:rPr lang="ar-AE"/>
                                <m:t>=</m:t>
                              </m:r>
                              <m:r>
                                <a:rPr lang="ar-AE"/>
                                <m:t>1</m:t>
                              </m:r>
                            </m:sub>
                            <m:sup>
                              <m:r>
                                <a:rPr lang="ar-AE" i="1"/>
                                <m:t>𝑁</m:t>
                              </m:r>
                            </m:sup>
                            <m:e>
                              <m:d>
                                <m:dPr>
                                  <m:begChr m:val="["/>
                                  <m:endChr m:val="]"/>
                                  <m:ctrlPr>
                                    <a:rPr lang="ar-AE" i="1"/>
                                  </m:ctrlPr>
                                </m:dPr>
                                <m:e>
                                  <m:sSub>
                                    <m:sSubPr>
                                      <m:ctrlPr>
                                        <a:rPr lang="ar-AE" i="1"/>
                                      </m:ctrlPr>
                                    </m:sSubPr>
                                    <m:e>
                                      <m:r>
                                        <a:rPr lang="ar-AE" i="1"/>
                                        <m:t>𝑦</m:t>
                                      </m:r>
                                    </m:e>
                                    <m:sub>
                                      <m:r>
                                        <a:rPr lang="ar-AE" i="1"/>
                                        <m:t>𝑖</m:t>
                                      </m:r>
                                    </m:sub>
                                  </m:sSub>
                                  <m:r>
                                    <m:rPr>
                                      <m:sty m:val="p"/>
                                    </m:rPr>
                                    <a:rPr lang="en-IN"/>
                                    <m:t>log</m:t>
                                  </m:r>
                                  <m:r>
                                    <a:rPr lang="en-IN"/>
                                    <m:t>⁡</m:t>
                                  </m:r>
                                  <m:d>
                                    <m:dPr>
                                      <m:ctrlPr>
                                        <a:rPr lang="ar-AE" i="1"/>
                                      </m:ctrlPr>
                                    </m:dPr>
                                    <m:e>
                                      <m:sSub>
                                        <m:sSubPr>
                                          <m:ctrlPr>
                                            <a:rPr lang="ar-AE" i="1"/>
                                          </m:ctrlPr>
                                        </m:sSubPr>
                                        <m:e>
                                          <m:acc>
                                            <m:accPr>
                                              <m:chr m:val="̂"/>
                                              <m:ctrlPr>
                                                <a:rPr lang="ar-AE" i="1"/>
                                              </m:ctrlPr>
                                            </m:accPr>
                                            <m:e>
                                              <m:r>
                                                <a:rPr lang="ar-AE" i="1"/>
                                                <m:t>𝑝</m:t>
                                              </m:r>
                                            </m:e>
                                          </m:acc>
                                        </m:e>
                                        <m:sub>
                                          <m:r>
                                            <a:rPr lang="ar-AE" i="1"/>
                                            <m:t>𝑖</m:t>
                                          </m:r>
                                        </m:sub>
                                      </m:sSub>
                                    </m:e>
                                  </m:d>
                                  <m:r>
                                    <a:rPr lang="ar-AE"/>
                                    <m:t>+</m:t>
                                  </m:r>
                                  <m:d>
                                    <m:dPr>
                                      <m:ctrlPr>
                                        <a:rPr lang="ar-AE" i="1"/>
                                      </m:ctrlPr>
                                    </m:dPr>
                                    <m:e>
                                      <m:r>
                                        <a:rPr lang="ar-AE"/>
                                        <m:t>1</m:t>
                                      </m:r>
                                      <m:r>
                                        <a:rPr lang="ar-AE"/>
                                        <m:t>−</m:t>
                                      </m:r>
                                      <m:sSub>
                                        <m:sSubPr>
                                          <m:ctrlPr>
                                            <a:rPr lang="ar-AE" i="1"/>
                                          </m:ctrlPr>
                                        </m:sSubPr>
                                        <m:e>
                                          <m:r>
                                            <a:rPr lang="ar-AE" i="1"/>
                                            <m:t>𝑦</m:t>
                                          </m:r>
                                        </m:e>
                                        <m:sub>
                                          <m:r>
                                            <a:rPr lang="ar-AE" i="1"/>
                                            <m:t>𝑖</m:t>
                                          </m:r>
                                        </m:sub>
                                      </m:sSub>
                                    </m:e>
                                  </m:d>
                                  <m:r>
                                    <m:rPr>
                                      <m:sty m:val="p"/>
                                    </m:rPr>
                                    <a:rPr lang="en-IN"/>
                                    <m:t>log</m:t>
                                  </m:r>
                                  <m:r>
                                    <a:rPr lang="en-IN"/>
                                    <m:t>⁡</m:t>
                                  </m:r>
                                  <m:d>
                                    <m:dPr>
                                      <m:ctrlPr>
                                        <a:rPr lang="ar-AE" i="1"/>
                                      </m:ctrlPr>
                                    </m:dPr>
                                    <m:e>
                                      <m:r>
                                        <a:rPr lang="ar-AE"/>
                                        <m:t>1</m:t>
                                      </m:r>
                                      <m:r>
                                        <a:rPr lang="ar-AE"/>
                                        <m:t>−</m:t>
                                      </m:r>
                                      <m:sSub>
                                        <m:sSubPr>
                                          <m:ctrlPr>
                                            <a:rPr lang="ar-AE" i="1"/>
                                          </m:ctrlPr>
                                        </m:sSubPr>
                                        <m:e>
                                          <m:acc>
                                            <m:accPr>
                                              <m:chr m:val="̂"/>
                                              <m:ctrlPr>
                                                <a:rPr lang="ar-AE" i="1"/>
                                              </m:ctrlPr>
                                            </m:accPr>
                                            <m:e>
                                              <m:r>
                                                <a:rPr lang="ar-AE" i="1"/>
                                                <m:t>𝑝</m:t>
                                              </m:r>
                                            </m:e>
                                          </m:acc>
                                        </m:e>
                                        <m:sub>
                                          <m:r>
                                            <a:rPr lang="ar-AE" i="1"/>
                                            <m:t>𝑖</m:t>
                                          </m:r>
                                        </m:sub>
                                      </m:sSub>
                                    </m:e>
                                  </m:d>
                                </m:e>
                              </m:d>
                            </m:e>
                          </m:nary>
                        </m:e>
                      </m:borderBox>
                    </m:oMath>
                  </m:oMathPara>
                </a14:m>
                <a:endParaRPr lang="ar-AE" b="0" dirty="0"/>
              </a:p>
              <a:p>
                <a:pPr marL="0" indent="0">
                  <a:buNone/>
                </a:pPr>
                <a:r>
                  <a:rPr lang="en-IN" b="1" dirty="0"/>
                  <a:t>Where:</a:t>
                </a:r>
              </a:p>
              <a:p>
                <a:pPr marL="0" indent="0">
                  <a:buNone/>
                </a:pPr>
                <a14:m>
                  <m:oMath xmlns:m="http://schemas.openxmlformats.org/officeDocument/2006/math">
                    <m:sSub>
                      <m:sSubPr>
                        <m:ctrlPr>
                          <a:rPr lang="ar-AE"/>
                        </m:ctrlPr>
                      </m:sSubPr>
                      <m:e>
                        <m:r>
                          <a:rPr lang="ar-AE" i="1"/>
                          <m:t>𝑦</m:t>
                        </m:r>
                      </m:e>
                      <m:sub>
                        <m:r>
                          <a:rPr lang="ar-AE" i="1"/>
                          <m:t>𝑖</m:t>
                        </m:r>
                      </m:sub>
                    </m:sSub>
                    <m:r>
                      <a:rPr lang="ar-AE"/>
                      <m:t>∈</m:t>
                    </m:r>
                    <m:d>
                      <m:dPr>
                        <m:begChr m:val="{"/>
                        <m:endChr m:val="}"/>
                        <m:sepChr m:val=","/>
                        <m:ctrlPr>
                          <a:rPr lang="ar-AE" i="1"/>
                        </m:ctrlPr>
                      </m:dPr>
                      <m:e>
                        <m:r>
                          <a:rPr lang="ar-AE"/>
                          <m:t>0</m:t>
                        </m:r>
                      </m:e>
                      <m:e>
                        <m:r>
                          <a:rPr lang="ar-AE"/>
                          <m:t>1</m:t>
                        </m:r>
                      </m:e>
                    </m:d>
                    <m:r>
                      <a:rPr lang="en-IN" b="0" i="0" smtClean="0">
                        <a:latin typeface="Cambria Math" panose="02040503050406030204" pitchFamily="18" charset="0"/>
                      </a:rPr>
                      <m:t> </m:t>
                    </m:r>
                    <m:r>
                      <m:rPr>
                        <m:sty m:val="p"/>
                      </m:rPr>
                      <a:rPr lang="en-IN" b="0" i="0" smtClean="0">
                        <a:latin typeface="Cambria Math" panose="02040503050406030204" pitchFamily="18" charset="0"/>
                      </a:rPr>
                      <m:t>is</m:t>
                    </m:r>
                    <m:r>
                      <a:rPr lang="en-IN" b="0" i="0" smtClean="0">
                        <a:latin typeface="Cambria Math" panose="02040503050406030204" pitchFamily="18" charset="0"/>
                      </a:rPr>
                      <m:t> </m:t>
                    </m:r>
                  </m:oMath>
                </a14:m>
                <a:r>
                  <a:rPr lang="en-IN" dirty="0"/>
                  <a:t>true label</a:t>
                </a:r>
              </a:p>
              <a:p>
                <a:pPr marL="0" indent="0">
                  <a:buNone/>
                </a:pPr>
                <a14:m>
                  <m:oMath xmlns:m="http://schemas.openxmlformats.org/officeDocument/2006/math">
                    <m:sSub>
                      <m:sSubPr>
                        <m:ctrlPr>
                          <a:rPr lang="ar-AE" smtClean="0"/>
                        </m:ctrlPr>
                      </m:sSubPr>
                      <m:e>
                        <m:acc>
                          <m:accPr>
                            <m:chr m:val="̂"/>
                            <m:ctrlPr>
                              <a:rPr lang="ar-AE"/>
                            </m:ctrlPr>
                          </m:accPr>
                          <m:e>
                            <m:r>
                              <a:rPr lang="ar-AE" i="1"/>
                              <m:t>𝑝</m:t>
                            </m:r>
                          </m:e>
                        </m:acc>
                      </m:e>
                      <m:sub>
                        <m:r>
                          <a:rPr lang="ar-AE" i="1"/>
                          <m:t>𝑖</m:t>
                        </m:r>
                      </m:sub>
                    </m:sSub>
                    <m:r>
                      <a:rPr lang="en-IN" b="0" i="0" smtClean="0">
                        <a:latin typeface="Cambria Math" panose="02040503050406030204" pitchFamily="18" charset="0"/>
                      </a:rPr>
                      <m:t> </m:t>
                    </m:r>
                    <m:r>
                      <m:rPr>
                        <m:sty m:val="p"/>
                      </m:rPr>
                      <a:rPr lang="en-IN" b="0" i="0" smtClean="0">
                        <a:latin typeface="Cambria Math" panose="02040503050406030204" pitchFamily="18" charset="0"/>
                      </a:rPr>
                      <m:t>is</m:t>
                    </m:r>
                    <m:r>
                      <a:rPr lang="en-IN" b="0" i="0" smtClean="0">
                        <a:latin typeface="Cambria Math" panose="02040503050406030204" pitchFamily="18" charset="0"/>
                      </a:rPr>
                      <m:t> </m:t>
                    </m:r>
                  </m:oMath>
                </a14:m>
                <a:r>
                  <a:rPr lang="en-IN" dirty="0"/>
                  <a:t>predicted probability of class 1</a:t>
                </a:r>
              </a:p>
              <a:p>
                <a:pPr marL="0" indent="0">
                  <a:buNone/>
                </a:pPr>
                <a14:m>
                  <m:oMath xmlns:m="http://schemas.openxmlformats.org/officeDocument/2006/math">
                    <m:func>
                      <m:funcPr>
                        <m:ctrlPr>
                          <a:rPr lang="ar-AE"/>
                        </m:ctrlPr>
                      </m:funcPr>
                      <m:fName>
                        <m:r>
                          <m:rPr>
                            <m:sty m:val="p"/>
                          </m:rPr>
                          <a:rPr lang="en-IN"/>
                          <m:t>log</m:t>
                        </m:r>
                      </m:fName>
                      <m:e/>
                    </m:func>
                  </m:oMath>
                </a14:m>
                <a:r>
                  <a:rPr lang="en-IN" dirty="0"/>
                  <a:t> is natural logarithm</a:t>
                </a:r>
              </a:p>
              <a:p>
                <a:endParaRPr lang="en-IN" dirty="0"/>
              </a:p>
            </p:txBody>
          </p:sp>
        </mc:Choice>
        <mc:Fallback>
          <p:sp>
            <p:nvSpPr>
              <p:cNvPr id="3" name="Content Placeholder 2">
                <a:extLst>
                  <a:ext uri="{FF2B5EF4-FFF2-40B4-BE49-F238E27FC236}">
                    <a16:creationId xmlns:a16="http://schemas.microsoft.com/office/drawing/2014/main" id="{0AC2A331-2448-F096-7886-87FE51E7A090}"/>
                  </a:ext>
                </a:extLst>
              </p:cNvPr>
              <p:cNvSpPr>
                <a:spLocks noGrp="1" noRot="1" noChangeAspect="1" noMove="1" noResize="1" noEditPoints="1" noAdjustHandles="1" noChangeArrowheads="1" noChangeShapeType="1" noTextEdit="1"/>
              </p:cNvSpPr>
              <p:nvPr>
                <p:ph idx="1"/>
              </p:nvPr>
            </p:nvSpPr>
            <p:spPr>
              <a:blipFill>
                <a:blip r:embed="rId2"/>
                <a:stretch>
                  <a:fillRect l="-1043" t="-2801" b="-1120"/>
                </a:stretch>
              </a:blipFill>
            </p:spPr>
            <p:txBody>
              <a:bodyPr/>
              <a:lstStyle/>
              <a:p>
                <a:r>
                  <a:rPr lang="en-IN">
                    <a:noFill/>
                  </a:rPr>
                  <a:t> </a:t>
                </a:r>
              </a:p>
            </p:txBody>
          </p:sp>
        </mc:Fallback>
      </mc:AlternateContent>
    </p:spTree>
    <p:extLst>
      <p:ext uri="{BB962C8B-B14F-4D97-AF65-F5344CB8AC3E}">
        <p14:creationId xmlns:p14="http://schemas.microsoft.com/office/powerpoint/2010/main" val="2903041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3BC70-9788-293D-3A38-A03946A747AF}"/>
              </a:ext>
            </a:extLst>
          </p:cNvPr>
          <p:cNvSpPr>
            <a:spLocks noGrp="1"/>
          </p:cNvSpPr>
          <p:nvPr>
            <p:ph type="title"/>
          </p:nvPr>
        </p:nvSpPr>
        <p:spPr/>
        <p:txBody>
          <a:bodyPr/>
          <a:lstStyle/>
          <a:p>
            <a:r>
              <a:rPr lang="en-IN" b="1" dirty="0"/>
              <a:t>Regularization term</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5BB926A8-A4C2-1295-617F-2102C18F0B0B}"/>
                  </a:ext>
                </a:extLst>
              </p:cNvPr>
              <p:cNvSpPr>
                <a:spLocks noGrp="1"/>
              </p:cNvSpPr>
              <p:nvPr>
                <p:ph idx="1"/>
              </p:nvPr>
            </p:nvSpPr>
            <p:spPr>
              <a:xfrm>
                <a:off x="838200" y="1544320"/>
                <a:ext cx="10515600" cy="4632643"/>
              </a:xfrm>
            </p:spPr>
            <p:txBody>
              <a:bodyPr/>
              <a:lstStyle/>
              <a:p>
                <a:pPr marL="0" indent="0">
                  <a:buNone/>
                </a:pPr>
                <a:r>
                  <a:rPr lang="en-IN" dirty="0"/>
                  <a:t>XGBoost adds regularization to avoid overfitting</a:t>
                </a:r>
              </a:p>
              <a:p>
                <a:pPr marL="0" indent="0">
                  <a:buNone/>
                </a:pPr>
                <a14:m>
                  <m:oMathPara xmlns:m="http://schemas.openxmlformats.org/officeDocument/2006/math">
                    <m:oMathParaPr>
                      <m:jc m:val="centerGroup"/>
                    </m:oMathParaPr>
                    <m:oMath xmlns:m="http://schemas.openxmlformats.org/officeDocument/2006/math">
                      <m:r>
                        <m:rPr>
                          <m:sty m:val="p"/>
                        </m:rPr>
                        <a:rPr lang="el-GR">
                          <a:latin typeface="Cambria Math" panose="02040503050406030204" pitchFamily="18" charset="0"/>
                        </a:rPr>
                        <m:t>Ω</m:t>
                      </m:r>
                      <m:d>
                        <m:dPr>
                          <m:ctrlPr>
                            <a:rPr lang="ar-AE" i="1">
                              <a:latin typeface="Cambria Math" panose="02040503050406030204" pitchFamily="18" charset="0"/>
                            </a:rPr>
                          </m:ctrlPr>
                        </m:dPr>
                        <m:e>
                          <m:r>
                            <a:rPr lang="ar-AE" i="1">
                              <a:latin typeface="Cambria Math" panose="02040503050406030204" pitchFamily="18" charset="0"/>
                            </a:rPr>
                            <m:t>𝑓</m:t>
                          </m:r>
                        </m:e>
                      </m:d>
                      <m:r>
                        <a:rPr lang="ar-AE">
                          <a:latin typeface="Cambria Math" panose="02040503050406030204" pitchFamily="18" charset="0"/>
                        </a:rPr>
                        <m:t>=</m:t>
                      </m:r>
                      <m:r>
                        <a:rPr lang="ar-AE" i="1">
                          <a:latin typeface="Cambria Math" panose="02040503050406030204" pitchFamily="18" charset="0"/>
                        </a:rPr>
                        <m:t>𝛾</m:t>
                      </m:r>
                      <m:r>
                        <a:rPr lang="ar-AE" i="1">
                          <a:latin typeface="Cambria Math" panose="02040503050406030204" pitchFamily="18" charset="0"/>
                        </a:rPr>
                        <m:t>𝑇</m:t>
                      </m:r>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den>
                      </m:f>
                      <m:r>
                        <a:rPr lang="ar-AE" i="1">
                          <a:latin typeface="Cambria Math" panose="02040503050406030204" pitchFamily="18" charset="0"/>
                        </a:rPr>
                        <m:t>𝜆</m:t>
                      </m:r>
                      <m:nary>
                        <m:naryPr>
                          <m:chr m:val="∑"/>
                          <m:grow m:val="on"/>
                          <m:ctrlPr>
                            <a:rPr lang="ar-AE" i="1">
                              <a:latin typeface="Cambria Math" panose="02040503050406030204" pitchFamily="18" charset="0"/>
                            </a:rPr>
                          </m:ctrlPr>
                        </m:naryPr>
                        <m:sub>
                          <m:r>
                            <a:rPr lang="ar-AE" i="1">
                              <a:latin typeface="Cambria Math" panose="02040503050406030204" pitchFamily="18" charset="0"/>
                            </a:rPr>
                            <m:t>𝑗</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𝑇</m:t>
                          </m:r>
                        </m:sup>
                        <m:e>
                          <m:sSubSup>
                            <m:sSubSupPr>
                              <m:ctrlPr>
                                <a:rPr lang="ar-AE" i="1">
                                  <a:latin typeface="Cambria Math" panose="02040503050406030204" pitchFamily="18" charset="0"/>
                                </a:rPr>
                              </m:ctrlPr>
                            </m:sSubSupPr>
                            <m:e>
                              <m:r>
                                <a:rPr lang="ar-AE" i="1">
                                  <a:latin typeface="Cambria Math" panose="02040503050406030204" pitchFamily="18" charset="0"/>
                                </a:rPr>
                                <m:t>𝑤</m:t>
                              </m:r>
                            </m:e>
                            <m:sub>
                              <m:r>
                                <a:rPr lang="ar-AE" i="1">
                                  <a:latin typeface="Cambria Math" panose="02040503050406030204" pitchFamily="18" charset="0"/>
                                </a:rPr>
                                <m:t>𝑗</m:t>
                              </m:r>
                            </m:sub>
                            <m:sup>
                              <m:r>
                                <a:rPr lang="ar-AE">
                                  <a:latin typeface="Cambria Math" panose="02040503050406030204" pitchFamily="18" charset="0"/>
                                </a:rPr>
                                <m:t>2</m:t>
                              </m:r>
                            </m:sup>
                          </m:sSubSup>
                        </m:e>
                      </m:nary>
                    </m:oMath>
                  </m:oMathPara>
                </a14:m>
                <a:endParaRPr lang="ar-AE" dirty="0"/>
              </a:p>
              <a:p>
                <a:pPr marL="0" indent="0">
                  <a:buNone/>
                </a:pPr>
                <a:r>
                  <a:rPr lang="en-IN" dirty="0"/>
                  <a:t>Where:</a:t>
                </a:r>
              </a:p>
              <a:p>
                <a:pPr marL="0" indent="0">
                  <a:buNone/>
                </a:pPr>
                <a14:m>
                  <m:oMath xmlns:m="http://schemas.openxmlformats.org/officeDocument/2006/math">
                    <m:r>
                      <a:rPr lang="en-IN" i="1">
                        <a:latin typeface="Cambria Math" panose="02040503050406030204" pitchFamily="18" charset="0"/>
                      </a:rPr>
                      <m:t>𝑇</m:t>
                    </m:r>
                  </m:oMath>
                </a14:m>
                <a:r>
                  <a:rPr lang="en-IN" dirty="0"/>
                  <a:t>= number of leaves</a:t>
                </a:r>
              </a:p>
              <a:p>
                <a:pPr marL="0" indent="0">
                  <a:buNone/>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𝑤</m:t>
                        </m:r>
                      </m:e>
                      <m:sub>
                        <m:r>
                          <a:rPr lang="ar-AE" i="1">
                            <a:latin typeface="Cambria Math" panose="02040503050406030204" pitchFamily="18" charset="0"/>
                          </a:rPr>
                          <m:t>𝑗</m:t>
                        </m:r>
                      </m:sub>
                    </m:sSub>
                  </m:oMath>
                </a14:m>
                <a:r>
                  <a:rPr lang="ar-AE" dirty="0"/>
                  <a:t>= </a:t>
                </a:r>
                <a:r>
                  <a:rPr lang="en-IN" dirty="0"/>
                  <a:t>score of leaf </a:t>
                </a:r>
                <a14:m>
                  <m:oMath xmlns:m="http://schemas.openxmlformats.org/officeDocument/2006/math">
                    <m:r>
                      <a:rPr lang="en-IN" i="1">
                        <a:latin typeface="Cambria Math" panose="02040503050406030204" pitchFamily="18" charset="0"/>
                      </a:rPr>
                      <m:t>𝑗</m:t>
                    </m:r>
                  </m:oMath>
                </a14:m>
                <a:endParaRPr lang="en-IN" dirty="0"/>
              </a:p>
              <a:p>
                <a:pPr marL="0" indent="0">
                  <a:buNone/>
                </a:pPr>
                <a14:m>
                  <m:oMath xmlns:m="http://schemas.openxmlformats.org/officeDocument/2006/math">
                    <m:r>
                      <a:rPr lang="en-IN" i="1">
                        <a:latin typeface="Cambria Math" panose="02040503050406030204" pitchFamily="18" charset="0"/>
                      </a:rPr>
                      <m:t>𝛾</m:t>
                    </m:r>
                  </m:oMath>
                </a14:m>
                <a:r>
                  <a:rPr lang="en-IN" dirty="0"/>
                  <a:t>= penalty for adding a new leaf</a:t>
                </a:r>
              </a:p>
              <a:p>
                <a:pPr marL="0" indent="0">
                  <a:buNone/>
                </a:pPr>
                <a14:m>
                  <m:oMath xmlns:m="http://schemas.openxmlformats.org/officeDocument/2006/math">
                    <m:r>
                      <a:rPr lang="en-IN" i="1">
                        <a:latin typeface="Cambria Math" panose="02040503050406030204" pitchFamily="18" charset="0"/>
                      </a:rPr>
                      <m:t>𝜆</m:t>
                    </m:r>
                  </m:oMath>
                </a14:m>
                <a:r>
                  <a:rPr lang="en-IN" dirty="0"/>
                  <a:t>= </a:t>
                </a:r>
                <a:r>
                  <a:rPr lang="en-IN" dirty="0">
                    <a:hlinkClick r:id="rId2"/>
                  </a:rPr>
                  <a:t>L2 regularization parameter</a:t>
                </a:r>
                <a:endParaRPr lang="en-IN" dirty="0"/>
              </a:p>
              <a:p>
                <a:endParaRPr lang="en-IN" dirty="0"/>
              </a:p>
            </p:txBody>
          </p:sp>
        </mc:Choice>
        <mc:Fallback xmlns="">
          <p:sp>
            <p:nvSpPr>
              <p:cNvPr id="7" name="Content Placeholder 6">
                <a:extLst>
                  <a:ext uri="{FF2B5EF4-FFF2-40B4-BE49-F238E27FC236}">
                    <a16:creationId xmlns:a16="http://schemas.microsoft.com/office/drawing/2014/main" id="{5BB926A8-A4C2-1295-617F-2102C18F0B0B}"/>
                  </a:ext>
                </a:extLst>
              </p:cNvPr>
              <p:cNvSpPr>
                <a:spLocks noGrp="1" noRot="1" noChangeAspect="1" noMove="1" noResize="1" noEditPoints="1" noAdjustHandles="1" noChangeArrowheads="1" noChangeShapeType="1" noTextEdit="1"/>
              </p:cNvSpPr>
              <p:nvPr>
                <p:ph idx="1"/>
              </p:nvPr>
            </p:nvSpPr>
            <p:spPr>
              <a:xfrm>
                <a:off x="838200" y="1544320"/>
                <a:ext cx="10515600" cy="4632643"/>
              </a:xfrm>
              <a:blipFill>
                <a:blip r:embed="rId3"/>
                <a:stretch>
                  <a:fillRect l="-1217" t="-2105"/>
                </a:stretch>
              </a:blipFill>
            </p:spPr>
            <p:txBody>
              <a:bodyPr/>
              <a:lstStyle/>
              <a:p>
                <a:r>
                  <a:rPr lang="en-IN">
                    <a:noFill/>
                  </a:rPr>
                  <a:t> </a:t>
                </a:r>
              </a:p>
            </p:txBody>
          </p:sp>
        </mc:Fallback>
      </mc:AlternateContent>
    </p:spTree>
    <p:extLst>
      <p:ext uri="{BB962C8B-B14F-4D97-AF65-F5344CB8AC3E}">
        <p14:creationId xmlns:p14="http://schemas.microsoft.com/office/powerpoint/2010/main" val="1608954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7A443-2D6F-3B82-D55B-38B8F182E4B7}"/>
              </a:ext>
            </a:extLst>
          </p:cNvPr>
          <p:cNvSpPr>
            <a:spLocks noGrp="1"/>
          </p:cNvSpPr>
          <p:nvPr>
            <p:ph type="title"/>
          </p:nvPr>
        </p:nvSpPr>
        <p:spPr>
          <a:xfrm>
            <a:off x="838200" y="365125"/>
            <a:ext cx="10515600" cy="1036955"/>
          </a:xfrm>
        </p:spPr>
        <p:txBody>
          <a:bodyPr>
            <a:normAutofit/>
          </a:bodyPr>
          <a:lstStyle/>
          <a:p>
            <a:r>
              <a:rPr lang="en-IN" b="1" dirty="0"/>
              <a:t>Additive Training (Boosting Process)</a:t>
            </a:r>
            <a:r>
              <a:rPr lang="en-IN" dirty="0"/>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E36EFA6-A44A-BE50-3A5D-CC1E63D1874C}"/>
                  </a:ext>
                </a:extLst>
              </p:cNvPr>
              <p:cNvSpPr>
                <a:spLocks noGrp="1"/>
              </p:cNvSpPr>
              <p:nvPr>
                <p:ph idx="1"/>
              </p:nvPr>
            </p:nvSpPr>
            <p:spPr>
              <a:xfrm>
                <a:off x="838200" y="1310640"/>
                <a:ext cx="10515600" cy="5090160"/>
              </a:xfrm>
            </p:spPr>
            <p:txBody>
              <a:bodyPr/>
              <a:lstStyle/>
              <a:p>
                <a:pPr algn="just">
                  <a:lnSpc>
                    <a:spcPct val="100000"/>
                  </a:lnSpc>
                  <a:spcBef>
                    <a:spcPts val="0"/>
                  </a:spcBef>
                </a:pPr>
                <a:r>
                  <a:rPr lang="en-IN" dirty="0"/>
                  <a:t>Instead of fitting the model all at once we optimize the model iteratively. </a:t>
                </a:r>
              </a:p>
              <a:p>
                <a:pPr algn="just">
                  <a:lnSpc>
                    <a:spcPct val="100000"/>
                  </a:lnSpc>
                  <a:spcBef>
                    <a:spcPts val="0"/>
                  </a:spcBef>
                </a:pPr>
                <a:r>
                  <a:rPr lang="en-US" dirty="0"/>
                  <a:t>Trees are added </a:t>
                </a:r>
                <a:r>
                  <a:rPr lang="en-US" b="1" dirty="0"/>
                  <a:t>one at a time.</a:t>
                </a:r>
                <a:endParaRPr lang="en-IN" dirty="0"/>
              </a:p>
              <a:p>
                <a:pPr algn="just">
                  <a:lnSpc>
                    <a:spcPct val="100000"/>
                  </a:lnSpc>
                  <a:spcBef>
                    <a:spcPts val="0"/>
                  </a:spcBef>
                </a:pPr>
                <a:r>
                  <a:rPr lang="en-IN" dirty="0"/>
                  <a:t>We start with an initial prediction </a:t>
                </a:r>
                <a14:m>
                  <m:oMath xmlns:m="http://schemas.openxmlformats.org/officeDocument/2006/math">
                    <m:sSubSup>
                      <m:sSubSupPr>
                        <m:ctrlPr>
                          <a:rPr lang="ar-AE" i="1">
                            <a:latin typeface="Cambria Math" panose="02040503050406030204" pitchFamily="18" charset="0"/>
                          </a:rPr>
                        </m:ctrlPr>
                      </m:sSubSupPr>
                      <m:e>
                        <m:acc>
                          <m:accPr>
                            <m:chr m:val="̂"/>
                            <m:ctrlPr>
                              <a:rPr lang="ar-AE" i="1">
                                <a:latin typeface="Cambria Math" panose="02040503050406030204" pitchFamily="18" charset="0"/>
                              </a:rPr>
                            </m:ctrlPr>
                          </m:accPr>
                          <m:e>
                            <m:r>
                              <a:rPr lang="ar-AE" i="1">
                                <a:latin typeface="Cambria Math" panose="02040503050406030204" pitchFamily="18" charset="0"/>
                              </a:rPr>
                              <m:t>𝑦</m:t>
                            </m:r>
                          </m:e>
                        </m:acc>
                      </m:e>
                      <m:sub>
                        <m:r>
                          <a:rPr lang="ar-AE" i="1">
                            <a:latin typeface="Cambria Math" panose="02040503050406030204" pitchFamily="18" charset="0"/>
                          </a:rPr>
                          <m:t>𝑖</m:t>
                        </m:r>
                      </m:sub>
                      <m:sup>
                        <m:d>
                          <m:dPr>
                            <m:ctrlPr>
                              <a:rPr lang="ar-AE" i="1">
                                <a:latin typeface="Cambria Math" panose="02040503050406030204" pitchFamily="18" charset="0"/>
                              </a:rPr>
                            </m:ctrlPr>
                          </m:dPr>
                          <m:e>
                            <m:r>
                              <a:rPr lang="ar-AE">
                                <a:latin typeface="Cambria Math" panose="02040503050406030204" pitchFamily="18" charset="0"/>
                              </a:rPr>
                              <m:t>0</m:t>
                            </m:r>
                          </m:e>
                        </m:d>
                      </m:sup>
                    </m:sSubSup>
                    <m:r>
                      <a:rPr lang="ar-AE">
                        <a:latin typeface="Cambria Math" panose="02040503050406030204" pitchFamily="18" charset="0"/>
                      </a:rPr>
                      <m:t>=</m:t>
                    </m:r>
                    <m:r>
                      <a:rPr lang="ar-AE">
                        <a:latin typeface="Cambria Math" panose="02040503050406030204" pitchFamily="18" charset="0"/>
                      </a:rPr>
                      <m:t>0</m:t>
                    </m:r>
                  </m:oMath>
                </a14:m>
                <a:r>
                  <a:rPr lang="ar-AE" dirty="0"/>
                  <a:t> </a:t>
                </a:r>
                <a:r>
                  <a:rPr lang="en-IN" dirty="0"/>
                  <a:t>and at each step we add a new tree to improve the model.</a:t>
                </a:r>
              </a:p>
              <a:p>
                <a:pPr algn="just">
                  <a:lnSpc>
                    <a:spcPct val="100000"/>
                  </a:lnSpc>
                  <a:spcBef>
                    <a:spcPts val="0"/>
                  </a:spcBef>
                </a:pPr>
                <a:r>
                  <a:rPr lang="en-IN" dirty="0"/>
                  <a:t>The updated predictions after adding the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𝑡</m:t>
                        </m:r>
                      </m:e>
                      <m:sup>
                        <m:r>
                          <a:rPr lang="ar-AE" i="1">
                            <a:latin typeface="Cambria Math" panose="02040503050406030204" pitchFamily="18" charset="0"/>
                          </a:rPr>
                          <m:t>𝑡</m:t>
                        </m:r>
                        <m:r>
                          <a:rPr lang="ar-AE" i="1">
                            <a:latin typeface="Cambria Math" panose="02040503050406030204" pitchFamily="18" charset="0"/>
                          </a:rPr>
                          <m:t>h</m:t>
                        </m:r>
                      </m:sup>
                    </m:sSup>
                  </m:oMath>
                </a14:m>
                <a:r>
                  <a:rPr lang="ar-AE" dirty="0"/>
                  <a:t> </a:t>
                </a:r>
                <a:r>
                  <a:rPr lang="en-IN" dirty="0"/>
                  <a:t>tree can be written as:</a:t>
                </a:r>
              </a:p>
              <a:p>
                <a:pPr>
                  <a:lnSpc>
                    <a:spcPct val="100000"/>
                  </a:lnSpc>
                  <a:spcBef>
                    <a:spcPts val="0"/>
                  </a:spcBef>
                </a:pPr>
                <a:endParaRPr lang="en-IN" dirty="0"/>
              </a:p>
            </p:txBody>
          </p:sp>
        </mc:Choice>
        <mc:Fallback xmlns="">
          <p:sp>
            <p:nvSpPr>
              <p:cNvPr id="3" name="Content Placeholder 2">
                <a:extLst>
                  <a:ext uri="{FF2B5EF4-FFF2-40B4-BE49-F238E27FC236}">
                    <a16:creationId xmlns:a16="http://schemas.microsoft.com/office/drawing/2014/main" id="{1E36EFA6-A44A-BE50-3A5D-CC1E63D1874C}"/>
                  </a:ext>
                </a:extLst>
              </p:cNvPr>
              <p:cNvSpPr>
                <a:spLocks noGrp="1" noRot="1" noChangeAspect="1" noMove="1" noResize="1" noEditPoints="1" noAdjustHandles="1" noChangeArrowheads="1" noChangeShapeType="1" noTextEdit="1"/>
              </p:cNvSpPr>
              <p:nvPr>
                <p:ph idx="1"/>
              </p:nvPr>
            </p:nvSpPr>
            <p:spPr>
              <a:xfrm>
                <a:off x="838200" y="1310640"/>
                <a:ext cx="10515600" cy="5090160"/>
              </a:xfrm>
              <a:blipFill>
                <a:blip r:embed="rId2"/>
                <a:stretch>
                  <a:fillRect l="-1043" t="-1078" r="-1159"/>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A85DAA0C-EA5B-8D15-FD3E-6C7E67B6CFBC}"/>
              </a:ext>
            </a:extLst>
          </p:cNvPr>
          <p:cNvPicPr>
            <a:picLocks noChangeAspect="1"/>
          </p:cNvPicPr>
          <p:nvPr/>
        </p:nvPicPr>
        <p:blipFill>
          <a:blip r:embed="rId3"/>
          <a:stretch>
            <a:fillRect/>
          </a:stretch>
        </p:blipFill>
        <p:spPr>
          <a:xfrm>
            <a:off x="1127760" y="4061257"/>
            <a:ext cx="9022080" cy="2339543"/>
          </a:xfrm>
          <a:prstGeom prst="rect">
            <a:avLst/>
          </a:prstGeom>
        </p:spPr>
      </p:pic>
    </p:spTree>
    <p:extLst>
      <p:ext uri="{BB962C8B-B14F-4D97-AF65-F5344CB8AC3E}">
        <p14:creationId xmlns:p14="http://schemas.microsoft.com/office/powerpoint/2010/main" val="3604981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7E205-15DA-EA8C-484B-65677F74692A}"/>
              </a:ext>
            </a:extLst>
          </p:cNvPr>
          <p:cNvSpPr>
            <a:spLocks noGrp="1"/>
          </p:cNvSpPr>
          <p:nvPr>
            <p:ph type="title"/>
          </p:nvPr>
        </p:nvSpPr>
        <p:spPr/>
        <p:txBody>
          <a:bodyPr/>
          <a:lstStyle/>
          <a:p>
            <a:r>
              <a:rPr lang="en-IN" b="1" dirty="0"/>
              <a:t>Second-Order Taylor Expansion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DB85D4-6E16-F400-345B-71527DE9079D}"/>
                  </a:ext>
                </a:extLst>
              </p:cNvPr>
              <p:cNvSpPr>
                <a:spLocks noGrp="1"/>
              </p:cNvSpPr>
              <p:nvPr>
                <p:ph idx="1"/>
              </p:nvPr>
            </p:nvSpPr>
            <p:spPr>
              <a:xfrm>
                <a:off x="838200" y="1690688"/>
                <a:ext cx="10515600" cy="4486275"/>
              </a:xfrm>
            </p:spPr>
            <p:txBody>
              <a:bodyPr/>
              <a:lstStyle/>
              <a:p>
                <a:pPr marL="0" indent="0">
                  <a:buNone/>
                </a:pPr>
                <a:r>
                  <a:rPr lang="en-IN" dirty="0"/>
                  <a:t>To efficiently optimize, XGBoost uses a </a:t>
                </a:r>
                <a:r>
                  <a:rPr lang="en-IN" b="1" dirty="0"/>
                  <a:t>second-order Taylor expansion</a:t>
                </a:r>
                <a:r>
                  <a:rPr lang="en-IN" dirty="0"/>
                  <a:t> of the loss function:</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𝐿</m:t>
                      </m:r>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e>
                        <m:e>
                          <m:sSubSup>
                            <m:sSubSupPr>
                              <m:ctrlPr>
                                <a:rPr lang="ar-AE" i="1">
                                  <a:latin typeface="Cambria Math" panose="02040503050406030204" pitchFamily="18" charset="0"/>
                                </a:rPr>
                              </m:ctrlPr>
                            </m:sSubSupPr>
                            <m:e>
                              <m:acc>
                                <m:accPr>
                                  <m:chr m:val="̂"/>
                                  <m:ctrlPr>
                                    <a:rPr lang="ar-AE" i="1">
                                      <a:latin typeface="Cambria Math" panose="02040503050406030204" pitchFamily="18" charset="0"/>
                                    </a:rPr>
                                  </m:ctrlPr>
                                </m:accPr>
                                <m:e>
                                  <m:r>
                                    <a:rPr lang="ar-AE" i="1">
                                      <a:latin typeface="Cambria Math" panose="02040503050406030204" pitchFamily="18" charset="0"/>
                                    </a:rPr>
                                    <m:t>𝑦</m:t>
                                  </m:r>
                                </m:e>
                              </m:acc>
                            </m:e>
                            <m:sub>
                              <m:r>
                                <a:rPr lang="ar-AE" i="1">
                                  <a:latin typeface="Cambria Math" panose="02040503050406030204" pitchFamily="18" charset="0"/>
                                </a:rPr>
                                <m:t>𝑖</m:t>
                              </m:r>
                            </m:sub>
                            <m:sup>
                              <m:d>
                                <m:dPr>
                                  <m:ctrlPr>
                                    <a:rPr lang="ar-AE" i="1">
                                      <a:latin typeface="Cambria Math" panose="02040503050406030204" pitchFamily="18" charset="0"/>
                                    </a:rPr>
                                  </m:ctrlPr>
                                </m:dPr>
                                <m:e>
                                  <m:r>
                                    <a:rPr lang="ar-AE" i="1">
                                      <a:latin typeface="Cambria Math" panose="02040503050406030204" pitchFamily="18" charset="0"/>
                                    </a:rPr>
                                    <m:t>𝑡</m:t>
                                  </m:r>
                                </m:e>
                              </m:d>
                            </m:sup>
                          </m:sSubSup>
                        </m:e>
                      </m:d>
                      <m:r>
                        <a:rPr lang="ar-AE">
                          <a:latin typeface="Cambria Math" panose="02040503050406030204" pitchFamily="18" charset="0"/>
                        </a:rPr>
                        <m:t>≈</m:t>
                      </m:r>
                      <m:r>
                        <a:rPr lang="ar-AE" i="1">
                          <a:latin typeface="Cambria Math" panose="02040503050406030204" pitchFamily="18" charset="0"/>
                        </a:rPr>
                        <m:t>𝐿</m:t>
                      </m:r>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e>
                        <m:e>
                          <m:sSubSup>
                            <m:sSubSupPr>
                              <m:ctrlPr>
                                <a:rPr lang="ar-AE" i="1">
                                  <a:latin typeface="Cambria Math" panose="02040503050406030204" pitchFamily="18" charset="0"/>
                                </a:rPr>
                              </m:ctrlPr>
                            </m:sSubSupPr>
                            <m:e>
                              <m:acc>
                                <m:accPr>
                                  <m:chr m:val="̂"/>
                                  <m:ctrlPr>
                                    <a:rPr lang="ar-AE" i="1">
                                      <a:latin typeface="Cambria Math" panose="02040503050406030204" pitchFamily="18" charset="0"/>
                                    </a:rPr>
                                  </m:ctrlPr>
                                </m:accPr>
                                <m:e>
                                  <m:r>
                                    <a:rPr lang="ar-AE" i="1">
                                      <a:latin typeface="Cambria Math" panose="02040503050406030204" pitchFamily="18" charset="0"/>
                                    </a:rPr>
                                    <m:t>𝑦</m:t>
                                  </m:r>
                                </m:e>
                              </m:acc>
                            </m:e>
                            <m:sub>
                              <m:r>
                                <a:rPr lang="ar-AE" i="1">
                                  <a:latin typeface="Cambria Math" panose="02040503050406030204" pitchFamily="18" charset="0"/>
                                </a:rPr>
                                <m:t>𝑖</m:t>
                              </m:r>
                            </m:sub>
                            <m:sup>
                              <m:d>
                                <m:dPr>
                                  <m:ctrlPr>
                                    <a:rPr lang="ar-AE" i="1">
                                      <a:latin typeface="Cambria Math" panose="02040503050406030204" pitchFamily="18" charset="0"/>
                                    </a:rPr>
                                  </m:ctrlPr>
                                </m:dPr>
                                <m:e>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e>
                              </m:d>
                            </m:sup>
                          </m:sSubSup>
                        </m:e>
                      </m:d>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𝑔</m:t>
                          </m:r>
                        </m:e>
                        <m:sub>
                          <m:r>
                            <a:rPr lang="ar-AE" i="1">
                              <a:latin typeface="Cambria Math" panose="02040503050406030204" pitchFamily="18" charset="0"/>
                            </a:rPr>
                            <m:t>𝑖</m:t>
                          </m:r>
                        </m:sub>
                      </m:sSub>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e>
                      </m:d>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den>
                      </m:f>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𝑖</m:t>
                          </m:r>
                        </m:sub>
                      </m:sSub>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d>
                        <m:dPr>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oMath>
                  </m:oMathPara>
                </a14:m>
                <a:endParaRPr lang="ar-AE" dirty="0"/>
              </a:p>
              <a:p>
                <a:pPr marL="0" indent="0">
                  <a:buNone/>
                </a:pPr>
                <a:r>
                  <a:rPr lang="en-IN" dirty="0"/>
                  <a:t>Where:</a:t>
                </a:r>
              </a:p>
              <a:p>
                <a:pPr marL="0" indent="0">
                  <a:buNone/>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𝑔</m:t>
                        </m:r>
                      </m:e>
                      <m:sub>
                        <m:r>
                          <a:rPr lang="ar-AE" i="1">
                            <a:latin typeface="Cambria Math" panose="02040503050406030204" pitchFamily="18" charset="0"/>
                          </a:rPr>
                          <m:t>𝑖</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m:t>
                        </m:r>
                        <m:r>
                          <a:rPr lang="ar-AE" i="1">
                            <a:latin typeface="Cambria Math" panose="02040503050406030204" pitchFamily="18" charset="0"/>
                          </a:rPr>
                          <m:t>𝐿</m:t>
                        </m:r>
                      </m:num>
                      <m:den>
                        <m:r>
                          <a:rPr lang="ar-AE">
                            <a:latin typeface="Cambria Math" panose="02040503050406030204" pitchFamily="18" charset="0"/>
                          </a:rPr>
                          <m:t>𝜕</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𝑦</m:t>
                                </m:r>
                              </m:e>
                            </m:acc>
                          </m:e>
                          <m:sub>
                            <m:r>
                              <a:rPr lang="ar-AE" i="1">
                                <a:latin typeface="Cambria Math" panose="02040503050406030204" pitchFamily="18" charset="0"/>
                              </a:rPr>
                              <m:t>𝑖</m:t>
                            </m:r>
                          </m:sub>
                        </m:sSub>
                      </m:den>
                    </m:f>
                  </m:oMath>
                </a14:m>
                <a:r>
                  <a:rPr lang="ar-AE" dirty="0"/>
                  <a:t>→ </a:t>
                </a:r>
                <a:r>
                  <a:rPr lang="en-IN" b="1" dirty="0"/>
                  <a:t>first derivative (gradient)</a:t>
                </a:r>
                <a:endParaRPr lang="en-IN" dirty="0"/>
              </a:p>
              <a:p>
                <a:pPr marL="0" indent="0">
                  <a:buNone/>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𝑖</m:t>
                        </m:r>
                      </m:sub>
                    </m:sSub>
                    <m:r>
                      <a:rPr lang="ar-AE">
                        <a:latin typeface="Cambria Math" panose="02040503050406030204" pitchFamily="18" charset="0"/>
                      </a:rPr>
                      <m:t>=</m:t>
                    </m:r>
                    <m:f>
                      <m:fPr>
                        <m:ctrlPr>
                          <a:rPr lang="ar-AE" i="1">
                            <a:latin typeface="Cambria Math" panose="02040503050406030204" pitchFamily="18" charset="0"/>
                          </a:rPr>
                        </m:ctrlPr>
                      </m:fPr>
                      <m:num>
                        <m:sSup>
                          <m:sSupPr>
                            <m:ctrlPr>
                              <a:rPr lang="ar-AE" i="1">
                                <a:latin typeface="Cambria Math" panose="02040503050406030204" pitchFamily="18" charset="0"/>
                              </a:rPr>
                            </m:ctrlPr>
                          </m:sSupPr>
                          <m:e>
                            <m:r>
                              <a:rPr lang="ar-AE">
                                <a:latin typeface="Cambria Math" panose="02040503050406030204" pitchFamily="18" charset="0"/>
                              </a:rPr>
                              <m:t>𝜕</m:t>
                            </m:r>
                          </m:e>
                          <m:sup>
                            <m:r>
                              <a:rPr lang="ar-AE">
                                <a:latin typeface="Cambria Math" panose="02040503050406030204" pitchFamily="18" charset="0"/>
                              </a:rPr>
                              <m:t>2</m:t>
                            </m:r>
                          </m:sup>
                        </m:sSup>
                        <m:r>
                          <a:rPr lang="ar-AE" i="1">
                            <a:latin typeface="Cambria Math" panose="02040503050406030204" pitchFamily="18" charset="0"/>
                          </a:rPr>
                          <m:t>𝐿</m:t>
                        </m:r>
                      </m:num>
                      <m:den>
                        <m:r>
                          <a:rPr lang="ar-AE">
                            <a:latin typeface="Cambria Math" panose="02040503050406030204" pitchFamily="18" charset="0"/>
                          </a:rPr>
                          <m:t>𝜕</m:t>
                        </m:r>
                        <m:sSubSup>
                          <m:sSubSupPr>
                            <m:ctrlPr>
                              <a:rPr lang="ar-AE" i="1">
                                <a:latin typeface="Cambria Math" panose="02040503050406030204" pitchFamily="18" charset="0"/>
                              </a:rPr>
                            </m:ctrlPr>
                          </m:sSubSupPr>
                          <m:e>
                            <m:acc>
                              <m:accPr>
                                <m:chr m:val="̂"/>
                                <m:ctrlPr>
                                  <a:rPr lang="ar-AE" i="1">
                                    <a:latin typeface="Cambria Math" panose="02040503050406030204" pitchFamily="18" charset="0"/>
                                  </a:rPr>
                                </m:ctrlPr>
                              </m:accPr>
                              <m:e>
                                <m:r>
                                  <a:rPr lang="ar-AE" i="1">
                                    <a:latin typeface="Cambria Math" panose="02040503050406030204" pitchFamily="18" charset="0"/>
                                  </a:rPr>
                                  <m:t>𝑦</m:t>
                                </m:r>
                              </m:e>
                            </m:acc>
                          </m:e>
                          <m:sub>
                            <m:r>
                              <a:rPr lang="ar-AE" i="1">
                                <a:latin typeface="Cambria Math" panose="02040503050406030204" pitchFamily="18" charset="0"/>
                              </a:rPr>
                              <m:t>𝑖</m:t>
                            </m:r>
                          </m:sub>
                          <m:sup>
                            <m:r>
                              <a:rPr lang="ar-AE">
                                <a:latin typeface="Cambria Math" panose="02040503050406030204" pitchFamily="18" charset="0"/>
                              </a:rPr>
                              <m:t>2</m:t>
                            </m:r>
                          </m:sup>
                        </m:sSubSup>
                      </m:den>
                    </m:f>
                  </m:oMath>
                </a14:m>
                <a:r>
                  <a:rPr lang="ar-AE" dirty="0"/>
                  <a:t>→ </a:t>
                </a:r>
                <a:r>
                  <a:rPr lang="en-IN" b="1" dirty="0"/>
                  <a:t>second derivative (Hessian)</a:t>
                </a:r>
                <a:endParaRPr lang="en-IN" dirty="0"/>
              </a:p>
              <a:p>
                <a:pPr marL="0" indent="0">
                  <a:buNone/>
                </a:pPr>
                <a:r>
                  <a:rPr lang="en-IN" dirty="0"/>
                  <a:t>This is the key reason it is called </a:t>
                </a:r>
                <a:r>
                  <a:rPr lang="en-IN" b="1" dirty="0"/>
                  <a:t>Extreme Gradient Boosting</a:t>
                </a:r>
                <a:r>
                  <a:rPr lang="en-IN" dirty="0"/>
                  <a:t>.</a:t>
                </a:r>
              </a:p>
              <a:p>
                <a:endParaRPr lang="en-IN" dirty="0"/>
              </a:p>
            </p:txBody>
          </p:sp>
        </mc:Choice>
        <mc:Fallback xmlns="">
          <p:sp>
            <p:nvSpPr>
              <p:cNvPr id="3" name="Content Placeholder 2">
                <a:extLst>
                  <a:ext uri="{FF2B5EF4-FFF2-40B4-BE49-F238E27FC236}">
                    <a16:creationId xmlns:a16="http://schemas.microsoft.com/office/drawing/2014/main" id="{65DB85D4-6E16-F400-345B-71527DE9079D}"/>
                  </a:ext>
                </a:extLst>
              </p:cNvPr>
              <p:cNvSpPr>
                <a:spLocks noGrp="1" noRot="1" noChangeAspect="1" noMove="1" noResize="1" noEditPoints="1" noAdjustHandles="1" noChangeArrowheads="1" noChangeShapeType="1" noTextEdit="1"/>
              </p:cNvSpPr>
              <p:nvPr>
                <p:ph idx="1"/>
              </p:nvPr>
            </p:nvSpPr>
            <p:spPr>
              <a:xfrm>
                <a:off x="838200" y="1690688"/>
                <a:ext cx="10515600" cy="4486275"/>
              </a:xfrm>
              <a:blipFill>
                <a:blip r:embed="rId2"/>
                <a:stretch>
                  <a:fillRect l="-1217" t="-2174"/>
                </a:stretch>
              </a:blipFill>
            </p:spPr>
            <p:txBody>
              <a:bodyPr/>
              <a:lstStyle/>
              <a:p>
                <a:r>
                  <a:rPr lang="en-IN">
                    <a:noFill/>
                  </a:rPr>
                  <a:t> </a:t>
                </a:r>
              </a:p>
            </p:txBody>
          </p:sp>
        </mc:Fallback>
      </mc:AlternateContent>
    </p:spTree>
    <p:extLst>
      <p:ext uri="{BB962C8B-B14F-4D97-AF65-F5344CB8AC3E}">
        <p14:creationId xmlns:p14="http://schemas.microsoft.com/office/powerpoint/2010/main" val="359422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100D4-51EB-69CE-AD1F-2D91D7B05BB4}"/>
              </a:ext>
            </a:extLst>
          </p:cNvPr>
          <p:cNvSpPr>
            <a:spLocks noGrp="1"/>
          </p:cNvSpPr>
          <p:nvPr>
            <p:ph type="title"/>
          </p:nvPr>
        </p:nvSpPr>
        <p:spPr/>
        <p:txBody>
          <a:bodyPr/>
          <a:lstStyle/>
          <a:p>
            <a:r>
              <a:rPr lang="en-IN" b="1" dirty="0"/>
              <a:t>Optimal Leaf Weight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BB7CB6-6CC2-4DCF-A3DF-B317F94B8846}"/>
                  </a:ext>
                </a:extLst>
              </p:cNvPr>
              <p:cNvSpPr>
                <a:spLocks noGrp="1"/>
              </p:cNvSpPr>
              <p:nvPr>
                <p:ph idx="1"/>
              </p:nvPr>
            </p:nvSpPr>
            <p:spPr/>
            <p:txBody>
              <a:bodyPr/>
              <a:lstStyle/>
              <a:p>
                <a:pPr marL="0" indent="0">
                  <a:buNone/>
                </a:pPr>
                <a:r>
                  <a:rPr lang="en-IN" dirty="0"/>
                  <a:t>For a leaf containing instances </a:t>
                </a:r>
                <a14:m>
                  <m:oMath xmlns:m="http://schemas.openxmlformats.org/officeDocument/2006/math">
                    <m:r>
                      <a:rPr lang="en-IN" i="1">
                        <a:latin typeface="Cambria Math" panose="02040503050406030204" pitchFamily="18" charset="0"/>
                      </a:rPr>
                      <m:t>𝐼</m:t>
                    </m:r>
                  </m:oMath>
                </a14:m>
                <a:r>
                  <a:rPr lang="en-IN" dirty="0"/>
                  <a:t>, the </a:t>
                </a:r>
                <a:r>
                  <a:rPr lang="en-IN" b="1" dirty="0"/>
                  <a:t>optimal leaf weight</a:t>
                </a:r>
                <a:r>
                  <a:rPr lang="en-IN" dirty="0"/>
                  <a:t> is</a:t>
                </a:r>
              </a:p>
              <a:p>
                <a:pPr marL="0" indent="0">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𝑤</m:t>
                          </m:r>
                        </m:e>
                        <m:sup>
                          <m:r>
                            <a:rPr lang="ar-AE">
                              <a:latin typeface="Cambria Math" panose="02040503050406030204" pitchFamily="18" charset="0"/>
                            </a:rPr>
                            <m:t>∗</m:t>
                          </m:r>
                        </m:sup>
                      </m:sSup>
                      <m:r>
                        <a:rPr lang="ar-AE">
                          <a:latin typeface="Cambria Math" panose="02040503050406030204" pitchFamily="18" charset="0"/>
                        </a:rPr>
                        <m:t>=−</m:t>
                      </m:r>
                      <m:f>
                        <m:fPr>
                          <m:ctrlPr>
                            <a:rPr lang="ar-AE" i="1">
                              <a:latin typeface="Cambria Math" panose="02040503050406030204" pitchFamily="18" charset="0"/>
                            </a:rPr>
                          </m:ctrlPr>
                        </m:fPr>
                        <m:num>
                          <m:nary>
                            <m:naryPr>
                              <m:chr m:val="∑"/>
                              <m:grow m:val="on"/>
                              <m:supHide m:val="on"/>
                              <m:ctrlPr>
                                <a:rPr lang="ar-AE" i="1">
                                  <a:latin typeface="Cambria Math" panose="02040503050406030204" pitchFamily="18" charset="0"/>
                                </a:rPr>
                              </m:ctrlPr>
                            </m:naryPr>
                            <m:sub>
                              <m:r>
                                <a:rPr lang="ar-AE" i="1">
                                  <a:latin typeface="Cambria Math" panose="02040503050406030204" pitchFamily="18" charset="0"/>
                                </a:rPr>
                                <m:t>𝑖</m:t>
                              </m:r>
                              <m:r>
                                <a:rPr lang="ar-AE">
                                  <a:latin typeface="Cambria Math" panose="02040503050406030204" pitchFamily="18" charset="0"/>
                                </a:rPr>
                                <m:t>∈</m:t>
                              </m:r>
                              <m:r>
                                <a:rPr lang="ar-AE" i="1">
                                  <a:latin typeface="Cambria Math" panose="02040503050406030204" pitchFamily="18" charset="0"/>
                                </a:rPr>
                                <m:t>𝐼</m:t>
                              </m:r>
                            </m:sub>
                            <m:sup/>
                            <m:e>
                              <m:sSub>
                                <m:sSubPr>
                                  <m:ctrlPr>
                                    <a:rPr lang="ar-AE" i="1">
                                      <a:latin typeface="Cambria Math" panose="02040503050406030204" pitchFamily="18" charset="0"/>
                                    </a:rPr>
                                  </m:ctrlPr>
                                </m:sSubPr>
                                <m:e>
                                  <m:r>
                                    <a:rPr lang="ar-AE" i="1">
                                      <a:latin typeface="Cambria Math" panose="02040503050406030204" pitchFamily="18" charset="0"/>
                                    </a:rPr>
                                    <m:t>𝑔</m:t>
                                  </m:r>
                                </m:e>
                                <m:sub>
                                  <m:r>
                                    <a:rPr lang="ar-AE" i="1">
                                      <a:latin typeface="Cambria Math" panose="02040503050406030204" pitchFamily="18" charset="0"/>
                                    </a:rPr>
                                    <m:t>𝑖</m:t>
                                  </m:r>
                                </m:sub>
                              </m:sSub>
                            </m:e>
                          </m:nary>
                        </m:num>
                        <m:den>
                          <m:nary>
                            <m:naryPr>
                              <m:chr m:val="∑"/>
                              <m:grow m:val="on"/>
                              <m:supHide m:val="on"/>
                              <m:ctrlPr>
                                <a:rPr lang="ar-AE" i="1">
                                  <a:latin typeface="Cambria Math" panose="02040503050406030204" pitchFamily="18" charset="0"/>
                                </a:rPr>
                              </m:ctrlPr>
                            </m:naryPr>
                            <m:sub>
                              <m:r>
                                <a:rPr lang="ar-AE" i="1">
                                  <a:latin typeface="Cambria Math" panose="02040503050406030204" pitchFamily="18" charset="0"/>
                                </a:rPr>
                                <m:t>𝑖</m:t>
                              </m:r>
                              <m:r>
                                <a:rPr lang="ar-AE">
                                  <a:latin typeface="Cambria Math" panose="02040503050406030204" pitchFamily="18" charset="0"/>
                                </a:rPr>
                                <m:t>∈</m:t>
                              </m:r>
                              <m:r>
                                <a:rPr lang="ar-AE" i="1">
                                  <a:latin typeface="Cambria Math" panose="02040503050406030204" pitchFamily="18" charset="0"/>
                                </a:rPr>
                                <m:t>𝐼</m:t>
                              </m:r>
                            </m:sub>
                            <m:sup/>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𝑖</m:t>
                                  </m:r>
                                </m:sub>
                              </m:sSub>
                            </m:e>
                          </m:nary>
                          <m:r>
                            <a:rPr lang="ar-AE">
                              <a:latin typeface="Cambria Math" panose="02040503050406030204" pitchFamily="18" charset="0"/>
                            </a:rPr>
                            <m:t>+</m:t>
                          </m:r>
                          <m:r>
                            <a:rPr lang="ar-AE" i="1">
                              <a:latin typeface="Cambria Math" panose="02040503050406030204" pitchFamily="18" charset="0"/>
                            </a:rPr>
                            <m:t>𝜆</m:t>
                          </m:r>
                        </m:den>
                      </m:f>
                    </m:oMath>
                  </m:oMathPara>
                </a14:m>
                <a:endParaRPr lang="ar-AE" dirty="0"/>
              </a:p>
              <a:p>
                <a:endParaRPr lang="en-IN" dirty="0"/>
              </a:p>
            </p:txBody>
          </p:sp>
        </mc:Choice>
        <mc:Fallback xmlns="">
          <p:sp>
            <p:nvSpPr>
              <p:cNvPr id="3" name="Content Placeholder 2">
                <a:extLst>
                  <a:ext uri="{FF2B5EF4-FFF2-40B4-BE49-F238E27FC236}">
                    <a16:creationId xmlns:a16="http://schemas.microsoft.com/office/drawing/2014/main" id="{33BB7CB6-6CC2-4DCF-A3DF-B317F94B8846}"/>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2522909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4C9DE-41EE-583A-2C91-BEC402DE5D27}"/>
              </a:ext>
            </a:extLst>
          </p:cNvPr>
          <p:cNvSpPr>
            <a:spLocks noGrp="1"/>
          </p:cNvSpPr>
          <p:nvPr>
            <p:ph type="title"/>
          </p:nvPr>
        </p:nvSpPr>
        <p:spPr/>
        <p:txBody>
          <a:bodyPr/>
          <a:lstStyle/>
          <a:p>
            <a:r>
              <a:rPr lang="en-IN" b="1" dirty="0"/>
              <a:t>Gain from a Split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DD5CE0-3266-C5F8-1C69-DD27C3C1ACFB}"/>
                  </a:ext>
                </a:extLst>
              </p:cNvPr>
              <p:cNvSpPr>
                <a:spLocks noGrp="1"/>
              </p:cNvSpPr>
              <p:nvPr>
                <p:ph idx="1"/>
              </p:nvPr>
            </p:nvSpPr>
            <p:spPr/>
            <p:txBody>
              <a:bodyPr/>
              <a:lstStyle/>
              <a:p>
                <a:pPr marL="0" indent="0">
                  <a:buNone/>
                </a:pPr>
                <a:r>
                  <a:rPr lang="en-IN" dirty="0"/>
                  <a:t>The </a:t>
                </a:r>
                <a:r>
                  <a:rPr lang="en-IN" b="1" dirty="0"/>
                  <a:t>gain</a:t>
                </a:r>
                <a:r>
                  <a:rPr lang="en-IN" dirty="0"/>
                  <a:t> from splitting a node into left (L) and right (R) children:</a:t>
                </a:r>
              </a:p>
              <a:p>
                <a:pPr marL="0" indent="0">
                  <a:buNone/>
                </a:pPr>
                <a14:m>
                  <m:oMathPara xmlns:m="http://schemas.openxmlformats.org/officeDocument/2006/math">
                    <m:oMathParaPr>
                      <m:jc m:val="centerGroup"/>
                    </m:oMathParaPr>
                    <m:oMath xmlns:m="http://schemas.openxmlformats.org/officeDocument/2006/math">
                      <m:r>
                        <m:rPr>
                          <m:nor/>
                        </m:rPr>
                        <a:rPr lang="en-IN" b="0"/>
                        <m:t>Gain</m:t>
                      </m:r>
                      <m:r>
                        <a:rPr lang="en-IN">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den>
                      </m:f>
                      <m:d>
                        <m:dPr>
                          <m:begChr m:val="["/>
                          <m:endChr m:val="]"/>
                          <m:ctrlPr>
                            <a:rPr lang="ar-AE" i="1">
                              <a:latin typeface="Cambria Math" panose="02040503050406030204" pitchFamily="18" charset="0"/>
                            </a:rPr>
                          </m:ctrlPr>
                        </m:dPr>
                        <m:e>
                          <m:f>
                            <m:fPr>
                              <m:ctrlPr>
                                <a:rPr lang="ar-AE" i="1">
                                  <a:latin typeface="Cambria Math" panose="02040503050406030204" pitchFamily="18" charset="0"/>
                                </a:rPr>
                              </m:ctrlPr>
                            </m:fPr>
                            <m:num>
                              <m:d>
                                <m:dPr>
                                  <m:endChr m:val=""/>
                                  <m:ctrlPr>
                                    <a:rPr lang="ar-AE" i="1">
                                      <a:latin typeface="Cambria Math" panose="02040503050406030204" pitchFamily="18" charset="0"/>
                                    </a:rPr>
                                  </m:ctrlPr>
                                </m:dPr>
                                <m:e>
                                  <m:nary>
                                    <m:naryPr>
                                      <m:chr m:val="∑"/>
                                      <m:grow m:val="on"/>
                                      <m:subHide m:val="on"/>
                                      <m:supHide m:val="on"/>
                                      <m:ctrlPr>
                                        <a:rPr lang="ar-AE" i="1">
                                          <a:latin typeface="Cambria Math" panose="02040503050406030204" pitchFamily="18" charset="0"/>
                                        </a:rPr>
                                      </m:ctrlPr>
                                    </m:naryPr>
                                    <m:sub/>
                                    <m:sup/>
                                    <m:e>
                                      <m:sSub>
                                        <m:sSubPr>
                                          <m:ctrlPr>
                                            <a:rPr lang="ar-AE" i="1">
                                              <a:latin typeface="Cambria Math" panose="02040503050406030204" pitchFamily="18" charset="0"/>
                                            </a:rPr>
                                          </m:ctrlPr>
                                        </m:sSubPr>
                                        <m:e>
                                          <m:r>
                                            <a:rPr lang="ar-AE" i="1">
                                              <a:latin typeface="Cambria Math" panose="02040503050406030204" pitchFamily="18" charset="0"/>
                                            </a:rPr>
                                            <m:t>𝑔</m:t>
                                          </m:r>
                                        </m:e>
                                        <m:sub>
                                          <m:r>
                                            <a:rPr lang="ar-AE" i="1">
                                              <a:latin typeface="Cambria Math" panose="02040503050406030204" pitchFamily="18" charset="0"/>
                                            </a:rPr>
                                            <m:t>𝐿</m:t>
                                          </m:r>
                                        </m:sub>
                                      </m:sSub>
                                    </m:e>
                                  </m:nary>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num>
                            <m:den>
                              <m:nary>
                                <m:naryPr>
                                  <m:chr m:val="∑"/>
                                  <m:grow m:val="on"/>
                                  <m:subHide m:val="on"/>
                                  <m:supHide m:val="on"/>
                                  <m:ctrlPr>
                                    <a:rPr lang="ar-AE" i="1">
                                      <a:latin typeface="Cambria Math" panose="02040503050406030204" pitchFamily="18" charset="0"/>
                                    </a:rPr>
                                  </m:ctrlPr>
                                </m:naryPr>
                                <m:sub/>
                                <m:sup/>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𝐿</m:t>
                                      </m:r>
                                    </m:sub>
                                  </m:sSub>
                                </m:e>
                              </m:nary>
                              <m:r>
                                <a:rPr lang="ar-AE">
                                  <a:latin typeface="Cambria Math" panose="02040503050406030204" pitchFamily="18" charset="0"/>
                                </a:rPr>
                                <m:t>+</m:t>
                              </m:r>
                              <m:r>
                                <a:rPr lang="ar-AE" i="1">
                                  <a:latin typeface="Cambria Math" panose="02040503050406030204" pitchFamily="18" charset="0"/>
                                </a:rPr>
                                <m:t>𝜆</m:t>
                              </m:r>
                            </m:den>
                          </m:f>
                          <m:r>
                            <a:rPr lang="ar-AE">
                              <a:latin typeface="Cambria Math" panose="02040503050406030204" pitchFamily="18" charset="0"/>
                            </a:rPr>
                            <m:t>+</m:t>
                          </m:r>
                          <m:f>
                            <m:fPr>
                              <m:ctrlPr>
                                <a:rPr lang="ar-AE" i="1">
                                  <a:latin typeface="Cambria Math" panose="02040503050406030204" pitchFamily="18" charset="0"/>
                                </a:rPr>
                              </m:ctrlPr>
                            </m:fPr>
                            <m:num>
                              <m:d>
                                <m:dPr>
                                  <m:endChr m:val=""/>
                                  <m:ctrlPr>
                                    <a:rPr lang="ar-AE" i="1">
                                      <a:latin typeface="Cambria Math" panose="02040503050406030204" pitchFamily="18" charset="0"/>
                                    </a:rPr>
                                  </m:ctrlPr>
                                </m:dPr>
                                <m:e>
                                  <m:nary>
                                    <m:naryPr>
                                      <m:chr m:val="∑"/>
                                      <m:grow m:val="on"/>
                                      <m:subHide m:val="on"/>
                                      <m:supHide m:val="on"/>
                                      <m:ctrlPr>
                                        <a:rPr lang="ar-AE" i="1">
                                          <a:latin typeface="Cambria Math" panose="02040503050406030204" pitchFamily="18" charset="0"/>
                                        </a:rPr>
                                      </m:ctrlPr>
                                    </m:naryPr>
                                    <m:sub/>
                                    <m:sup/>
                                    <m:e>
                                      <m:sSub>
                                        <m:sSubPr>
                                          <m:ctrlPr>
                                            <a:rPr lang="ar-AE" i="1">
                                              <a:latin typeface="Cambria Math" panose="02040503050406030204" pitchFamily="18" charset="0"/>
                                            </a:rPr>
                                          </m:ctrlPr>
                                        </m:sSubPr>
                                        <m:e>
                                          <m:r>
                                            <a:rPr lang="ar-AE" i="1">
                                              <a:latin typeface="Cambria Math" panose="02040503050406030204" pitchFamily="18" charset="0"/>
                                            </a:rPr>
                                            <m:t>𝑔</m:t>
                                          </m:r>
                                        </m:e>
                                        <m:sub>
                                          <m:r>
                                            <a:rPr lang="ar-AE" i="1">
                                              <a:latin typeface="Cambria Math" panose="02040503050406030204" pitchFamily="18" charset="0"/>
                                            </a:rPr>
                                            <m:t>𝑅</m:t>
                                          </m:r>
                                        </m:sub>
                                      </m:sSub>
                                    </m:e>
                                  </m:nary>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num>
                            <m:den>
                              <m:nary>
                                <m:naryPr>
                                  <m:chr m:val="∑"/>
                                  <m:grow m:val="on"/>
                                  <m:subHide m:val="on"/>
                                  <m:supHide m:val="on"/>
                                  <m:ctrlPr>
                                    <a:rPr lang="ar-AE" i="1">
                                      <a:latin typeface="Cambria Math" panose="02040503050406030204" pitchFamily="18" charset="0"/>
                                    </a:rPr>
                                  </m:ctrlPr>
                                </m:naryPr>
                                <m:sub/>
                                <m:sup/>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𝑅</m:t>
                                      </m:r>
                                    </m:sub>
                                  </m:sSub>
                                </m:e>
                              </m:nary>
                              <m:r>
                                <a:rPr lang="ar-AE">
                                  <a:latin typeface="Cambria Math" panose="02040503050406030204" pitchFamily="18" charset="0"/>
                                </a:rPr>
                                <m:t>+</m:t>
                              </m:r>
                              <m:r>
                                <a:rPr lang="ar-AE" i="1">
                                  <a:latin typeface="Cambria Math" panose="02040503050406030204" pitchFamily="18" charset="0"/>
                                </a:rPr>
                                <m:t>𝜆</m:t>
                              </m:r>
                            </m:den>
                          </m:f>
                          <m:r>
                            <a:rPr lang="ar-AE">
                              <a:latin typeface="Cambria Math" panose="02040503050406030204" pitchFamily="18" charset="0"/>
                            </a:rPr>
                            <m:t>−</m:t>
                          </m:r>
                          <m:f>
                            <m:fPr>
                              <m:ctrlPr>
                                <a:rPr lang="ar-AE" i="1">
                                  <a:latin typeface="Cambria Math" panose="02040503050406030204" pitchFamily="18" charset="0"/>
                                </a:rPr>
                              </m:ctrlPr>
                            </m:fPr>
                            <m:num>
                              <m:d>
                                <m:dPr>
                                  <m:endChr m:val=""/>
                                  <m:ctrlPr>
                                    <a:rPr lang="ar-AE" i="1">
                                      <a:latin typeface="Cambria Math" panose="02040503050406030204" pitchFamily="18" charset="0"/>
                                    </a:rPr>
                                  </m:ctrlPr>
                                </m:dPr>
                                <m:e>
                                  <m:nary>
                                    <m:naryPr>
                                      <m:chr m:val="∑"/>
                                      <m:grow m:val="on"/>
                                      <m:subHide m:val="on"/>
                                      <m:supHide m:val="on"/>
                                      <m:ctrlPr>
                                        <a:rPr lang="ar-AE" i="1">
                                          <a:latin typeface="Cambria Math" panose="02040503050406030204" pitchFamily="18" charset="0"/>
                                        </a:rPr>
                                      </m:ctrlPr>
                                    </m:naryPr>
                                    <m:sub/>
                                    <m:sup/>
                                    <m:e>
                                      <m:r>
                                        <a:rPr lang="ar-AE" i="1">
                                          <a:latin typeface="Cambria Math" panose="02040503050406030204" pitchFamily="18" charset="0"/>
                                        </a:rPr>
                                        <m:t>𝑔</m:t>
                                      </m:r>
                                    </m:e>
                                  </m:nary>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num>
                            <m:den>
                              <m:nary>
                                <m:naryPr>
                                  <m:chr m:val="∑"/>
                                  <m:grow m:val="on"/>
                                  <m:subHide m:val="on"/>
                                  <m:supHide m:val="on"/>
                                  <m:ctrlPr>
                                    <a:rPr lang="ar-AE" i="1">
                                      <a:latin typeface="Cambria Math" panose="02040503050406030204" pitchFamily="18" charset="0"/>
                                    </a:rPr>
                                  </m:ctrlPr>
                                </m:naryPr>
                                <m:sub/>
                                <m:sup/>
                                <m:e>
                                  <m:r>
                                    <a:rPr lang="ar-AE" i="1">
                                      <a:latin typeface="Cambria Math" panose="02040503050406030204" pitchFamily="18" charset="0"/>
                                    </a:rPr>
                                    <m:t>h</m:t>
                                  </m:r>
                                </m:e>
                              </m:nary>
                              <m:r>
                                <a:rPr lang="ar-AE">
                                  <a:latin typeface="Cambria Math" panose="02040503050406030204" pitchFamily="18" charset="0"/>
                                </a:rPr>
                                <m:t>+</m:t>
                              </m:r>
                              <m:r>
                                <a:rPr lang="ar-AE" i="1">
                                  <a:latin typeface="Cambria Math" panose="02040503050406030204" pitchFamily="18" charset="0"/>
                                </a:rPr>
                                <m:t>𝜆</m:t>
                              </m:r>
                            </m:den>
                          </m:f>
                        </m:e>
                      </m:d>
                      <m:r>
                        <a:rPr lang="ar-AE">
                          <a:latin typeface="Cambria Math" panose="02040503050406030204" pitchFamily="18" charset="0"/>
                        </a:rPr>
                        <m:t>−</m:t>
                      </m:r>
                      <m:r>
                        <a:rPr lang="ar-AE" i="1">
                          <a:latin typeface="Cambria Math" panose="02040503050406030204" pitchFamily="18" charset="0"/>
                        </a:rPr>
                        <m:t>𝛾</m:t>
                      </m:r>
                    </m:oMath>
                  </m:oMathPara>
                </a14:m>
                <a:endParaRPr lang="ar-AE" b="0" dirty="0"/>
              </a:p>
              <a:p>
                <a:pPr marL="0" indent="0">
                  <a:buNone/>
                </a:pPr>
                <a:endParaRPr lang="en-IN" dirty="0"/>
              </a:p>
              <a:p>
                <a:pPr marL="0" indent="0">
                  <a:buNone/>
                </a:pPr>
                <a:r>
                  <a:rPr lang="en-IN" dirty="0"/>
                  <a:t>Split is accepted only if </a:t>
                </a:r>
                <a:r>
                  <a:rPr lang="en-IN" b="1" dirty="0"/>
                  <a:t>Gain &gt; 0</a:t>
                </a:r>
                <a:endParaRPr lang="en-IN" dirty="0"/>
              </a:p>
              <a:p>
                <a:pPr marL="0" indent="0">
                  <a:buNone/>
                </a:pPr>
                <a:r>
                  <a:rPr lang="en-IN" dirty="0"/>
                  <a:t>Ensures optimal tree growth</a:t>
                </a:r>
              </a:p>
              <a:p>
                <a:endParaRPr lang="en-IN" dirty="0"/>
              </a:p>
            </p:txBody>
          </p:sp>
        </mc:Choice>
        <mc:Fallback xmlns="">
          <p:sp>
            <p:nvSpPr>
              <p:cNvPr id="3" name="Content Placeholder 2">
                <a:extLst>
                  <a:ext uri="{FF2B5EF4-FFF2-40B4-BE49-F238E27FC236}">
                    <a16:creationId xmlns:a16="http://schemas.microsoft.com/office/drawing/2014/main" id="{58DD5CE0-3266-C5F8-1C69-DD27C3C1ACFB}"/>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1438132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42115-AA64-9FE6-5FE8-43632D17BF59}"/>
              </a:ext>
            </a:extLst>
          </p:cNvPr>
          <p:cNvSpPr>
            <a:spLocks noGrp="1"/>
          </p:cNvSpPr>
          <p:nvPr>
            <p:ph type="title"/>
          </p:nvPr>
        </p:nvSpPr>
        <p:spPr/>
        <p:txBody>
          <a:bodyPr/>
          <a:lstStyle/>
          <a:p>
            <a:r>
              <a:rPr lang="en-IN" b="1" dirty="0"/>
              <a:t>Learning Rate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574406-5CE6-BD2F-F1E5-12156326E7DE}"/>
                  </a:ext>
                </a:extLst>
              </p:cNvPr>
              <p:cNvSpPr>
                <a:spLocks noGrp="1"/>
              </p:cNvSpPr>
              <p:nvPr>
                <p:ph idx="1"/>
              </p:nvPr>
            </p:nvSpPr>
            <p:spPr/>
            <p:txBody>
              <a:bodyPr/>
              <a:lstStyle/>
              <a:p>
                <a:pPr marL="0" indent="0">
                  <a:buNone/>
                </a:pPr>
                <a:r>
                  <a:rPr lang="en-IN" dirty="0"/>
                  <a:t>Scaled by a </a:t>
                </a:r>
                <a:r>
                  <a:rPr lang="en-IN" dirty="0">
                    <a:hlinkClick r:id="rId2"/>
                  </a:rPr>
                  <a:t>learning rate </a:t>
                </a:r>
                <a14:m>
                  <m:oMath xmlns:m="http://schemas.openxmlformats.org/officeDocument/2006/math">
                    <m:r>
                      <a:rPr lang="en-IN" i="1">
                        <a:latin typeface="Cambria Math" panose="02040503050406030204" pitchFamily="18" charset="0"/>
                      </a:rPr>
                      <m:t>𝜂</m:t>
                    </m:r>
                  </m:oMath>
                </a14:m>
                <a:r>
                  <a:rPr lang="en-IN" dirty="0"/>
                  <a:t>:</a:t>
                </a:r>
              </a:p>
              <a:p>
                <a:pPr marL="0" indent="0">
                  <a:buNone/>
                </a:pPr>
                <a:endParaRPr lang="en-IN" dirty="0"/>
              </a:p>
              <a:p>
                <a:pPr marL="0" indent="0">
                  <a:buNone/>
                </a:pPr>
                <a14:m>
                  <m:oMathPara xmlns:m="http://schemas.openxmlformats.org/officeDocument/2006/math">
                    <m:oMathParaPr>
                      <m:jc m:val="centerGroup"/>
                    </m:oMathParaPr>
                    <m:oMath xmlns:m="http://schemas.openxmlformats.org/officeDocument/2006/math">
                      <m:sSubSup>
                        <m:sSubSupPr>
                          <m:ctrlPr>
                            <a:rPr lang="ar-AE" i="1">
                              <a:latin typeface="Cambria Math" panose="02040503050406030204" pitchFamily="18" charset="0"/>
                            </a:rPr>
                          </m:ctrlPr>
                        </m:sSubSupPr>
                        <m:e>
                          <m:acc>
                            <m:accPr>
                              <m:chr m:val="̂"/>
                              <m:ctrlPr>
                                <a:rPr lang="ar-AE" i="1">
                                  <a:latin typeface="Cambria Math" panose="02040503050406030204" pitchFamily="18" charset="0"/>
                                </a:rPr>
                              </m:ctrlPr>
                            </m:accPr>
                            <m:e>
                              <m:r>
                                <a:rPr lang="ar-AE" i="1">
                                  <a:latin typeface="Cambria Math" panose="02040503050406030204" pitchFamily="18" charset="0"/>
                                </a:rPr>
                                <m:t>𝑦</m:t>
                              </m:r>
                            </m:e>
                          </m:acc>
                        </m:e>
                        <m:sub>
                          <m:r>
                            <a:rPr lang="ar-AE" i="1">
                              <a:latin typeface="Cambria Math" panose="02040503050406030204" pitchFamily="18" charset="0"/>
                            </a:rPr>
                            <m:t>𝑖</m:t>
                          </m:r>
                        </m:sub>
                        <m:sup>
                          <m:d>
                            <m:dPr>
                              <m:ctrlPr>
                                <a:rPr lang="ar-AE" i="1">
                                  <a:latin typeface="Cambria Math" panose="02040503050406030204" pitchFamily="18" charset="0"/>
                                </a:rPr>
                              </m:ctrlPr>
                            </m:dPr>
                            <m:e>
                              <m:r>
                                <a:rPr lang="ar-AE" i="1">
                                  <a:latin typeface="Cambria Math" panose="02040503050406030204" pitchFamily="18" charset="0"/>
                                </a:rPr>
                                <m:t>𝑡</m:t>
                              </m:r>
                            </m:e>
                          </m:d>
                        </m:sup>
                      </m:sSubSup>
                      <m:r>
                        <a:rPr lang="ar-AE">
                          <a:latin typeface="Cambria Math" panose="02040503050406030204" pitchFamily="18" charset="0"/>
                        </a:rPr>
                        <m:t>=</m:t>
                      </m:r>
                      <m:sSubSup>
                        <m:sSubSupPr>
                          <m:ctrlPr>
                            <a:rPr lang="ar-AE" i="1">
                              <a:latin typeface="Cambria Math" panose="02040503050406030204" pitchFamily="18" charset="0"/>
                            </a:rPr>
                          </m:ctrlPr>
                        </m:sSubSupPr>
                        <m:e>
                          <m:acc>
                            <m:accPr>
                              <m:chr m:val="̂"/>
                              <m:ctrlPr>
                                <a:rPr lang="ar-AE" i="1">
                                  <a:latin typeface="Cambria Math" panose="02040503050406030204" pitchFamily="18" charset="0"/>
                                </a:rPr>
                              </m:ctrlPr>
                            </m:accPr>
                            <m:e>
                              <m:r>
                                <a:rPr lang="ar-AE" i="1">
                                  <a:latin typeface="Cambria Math" panose="02040503050406030204" pitchFamily="18" charset="0"/>
                                </a:rPr>
                                <m:t>𝑦</m:t>
                              </m:r>
                            </m:e>
                          </m:acc>
                        </m:e>
                        <m:sub>
                          <m:r>
                            <a:rPr lang="ar-AE" i="1">
                              <a:latin typeface="Cambria Math" panose="02040503050406030204" pitchFamily="18" charset="0"/>
                            </a:rPr>
                            <m:t>𝑖</m:t>
                          </m:r>
                        </m:sub>
                        <m:sup>
                          <m:d>
                            <m:dPr>
                              <m:ctrlPr>
                                <a:rPr lang="ar-AE" i="1">
                                  <a:latin typeface="Cambria Math" panose="02040503050406030204" pitchFamily="18" charset="0"/>
                                </a:rPr>
                              </m:ctrlPr>
                            </m:dPr>
                            <m:e>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e>
                          </m:d>
                        </m:sup>
                      </m:sSubSup>
                      <m:r>
                        <a:rPr lang="ar-AE">
                          <a:latin typeface="Cambria Math" panose="02040503050406030204" pitchFamily="18" charset="0"/>
                        </a:rPr>
                        <m:t>+</m:t>
                      </m:r>
                      <m:r>
                        <a:rPr lang="ar-AE" i="1">
                          <a:latin typeface="Cambria Math" panose="02040503050406030204" pitchFamily="18" charset="0"/>
                        </a:rPr>
                        <m:t>𝜂</m:t>
                      </m:r>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e>
                      </m:d>
                    </m:oMath>
                  </m:oMathPara>
                </a14:m>
                <a:endParaRPr lang="ar-AE" dirty="0"/>
              </a:p>
              <a:p>
                <a:pPr marL="0" indent="0">
                  <a:buNone/>
                </a:pPr>
                <a:r>
                  <a:rPr lang="en-IN" dirty="0"/>
                  <a:t>Smaller </a:t>
                </a:r>
                <a14:m>
                  <m:oMath xmlns:m="http://schemas.openxmlformats.org/officeDocument/2006/math">
                    <m:r>
                      <a:rPr lang="en-IN" i="1">
                        <a:latin typeface="Cambria Math" panose="02040503050406030204" pitchFamily="18" charset="0"/>
                      </a:rPr>
                      <m:t>𝜂</m:t>
                    </m:r>
                  </m:oMath>
                </a14:m>
                <a:endParaRPr lang="en-IN" dirty="0"/>
              </a:p>
              <a:p>
                <a:r>
                  <a:rPr lang="en-IN" dirty="0"/>
                  <a:t>Model has slower learning</a:t>
                </a:r>
              </a:p>
              <a:p>
                <a:r>
                  <a:rPr lang="en-IN" dirty="0"/>
                  <a:t>It does better generalization</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27574406-5CE6-BD2F-F1E5-12156326E7DE}"/>
                  </a:ext>
                </a:extLst>
              </p:cNvPr>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485229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9A6CE-7E41-53BB-B697-8752CC2C9289}"/>
              </a:ext>
            </a:extLst>
          </p:cNvPr>
          <p:cNvSpPr>
            <a:spLocks noGrp="1"/>
          </p:cNvSpPr>
          <p:nvPr>
            <p:ph type="title"/>
          </p:nvPr>
        </p:nvSpPr>
        <p:spPr/>
        <p:txBody>
          <a:bodyPr/>
          <a:lstStyle/>
          <a:p>
            <a:r>
              <a:rPr lang="en-IN" b="1" dirty="0"/>
              <a:t>Final mathematical representation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D2F7E6-D3B2-48F2-6955-FE481C4B5FCC}"/>
                  </a:ext>
                </a:extLst>
              </p:cNvPr>
              <p:cNvSpPr>
                <a:spLocks noGrp="1"/>
              </p:cNvSpPr>
              <p:nvPr>
                <p:ph idx="1"/>
              </p:nvPr>
            </p:nvSpPr>
            <p:spPr/>
            <p:txBody>
              <a:bodyPr/>
              <a:lstStyle/>
              <a:p>
                <a:pPr marL="0" indent="0">
                  <a:buNone/>
                </a:pPr>
                <a:r>
                  <a:rPr lang="en-IN" dirty="0"/>
                  <a:t>After </a:t>
                </a:r>
                <a14:m>
                  <m:oMath xmlns:m="http://schemas.openxmlformats.org/officeDocument/2006/math">
                    <m:r>
                      <a:rPr lang="en-IN" i="1">
                        <a:latin typeface="Cambria Math" panose="02040503050406030204" pitchFamily="18" charset="0"/>
                      </a:rPr>
                      <m:t>𝐾</m:t>
                    </m:r>
                  </m:oMath>
                </a14:m>
                <a:r>
                  <a:rPr lang="en-IN" dirty="0"/>
                  <a:t>trees:</a:t>
                </a:r>
              </a:p>
              <a:p>
                <a:pPr marL="0" indent="0">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𝑦</m:t>
                              </m:r>
                            </m:e>
                          </m:acc>
                        </m:e>
                        <m:sub>
                          <m:r>
                            <a:rPr lang="ar-AE" i="1">
                              <a:latin typeface="Cambria Math" panose="02040503050406030204" pitchFamily="18" charset="0"/>
                            </a:rPr>
                            <m:t>𝑖</m:t>
                          </m:r>
                        </m:sub>
                      </m:sSub>
                      <m:r>
                        <a:rPr lang="ar-AE">
                          <a:latin typeface="Cambria Math" panose="02040503050406030204" pitchFamily="18" charset="0"/>
                        </a:rPr>
                        <m:t>=</m:t>
                      </m:r>
                      <m:nary>
                        <m:naryPr>
                          <m:chr m:val="∑"/>
                          <m:grow m:val="on"/>
                          <m:ctrlPr>
                            <a:rPr lang="ar-AE" i="1">
                              <a:latin typeface="Cambria Math" panose="02040503050406030204" pitchFamily="18" charset="0"/>
                            </a:rPr>
                          </m:ctrlPr>
                        </m:naryPr>
                        <m:sub>
                          <m:r>
                            <a:rPr lang="ar-AE" i="1">
                              <a:latin typeface="Cambria Math" panose="02040503050406030204" pitchFamily="18" charset="0"/>
                            </a:rPr>
                            <m:t>𝑘</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𝐾</m:t>
                          </m:r>
                        </m:sup>
                        <m:e>
                          <m:r>
                            <a:rPr lang="ar-AE" i="1">
                              <a:latin typeface="Cambria Math" panose="02040503050406030204" pitchFamily="18" charset="0"/>
                            </a:rPr>
                            <m:t>𝜂</m:t>
                          </m:r>
                        </m:e>
                      </m:nary>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𝑘</m:t>
                          </m:r>
                        </m:sub>
                      </m:sSub>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e>
                      </m:d>
                    </m:oMath>
                  </m:oMathPara>
                </a14:m>
                <a:endParaRPr lang="ar-AE" dirty="0"/>
              </a:p>
              <a:p>
                <a:pPr marL="0" indent="0">
                  <a:buNone/>
                </a:pPr>
                <a:r>
                  <a:rPr lang="en-IN" dirty="0"/>
                  <a:t>For binary classification:</a:t>
                </a:r>
              </a:p>
              <a:p>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𝑦</m:t>
                            </m:r>
                          </m:e>
                        </m:acc>
                      </m:e>
                      <m:sub>
                        <m:r>
                          <a:rPr lang="ar-AE" i="1">
                            <a:latin typeface="Cambria Math" panose="02040503050406030204" pitchFamily="18" charset="0"/>
                          </a:rPr>
                          <m:t>𝑖</m:t>
                        </m:r>
                      </m:sub>
                    </m:sSub>
                    <m:r>
                      <a:rPr lang="ar-AE">
                        <a:latin typeface="Cambria Math" panose="02040503050406030204" pitchFamily="18" charset="0"/>
                      </a:rPr>
                      <m:t>&gt;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oMath>
                </a14:m>
                <a:r>
                  <a:rPr lang="ar-AE" dirty="0"/>
                  <a:t>→ </a:t>
                </a:r>
                <a:r>
                  <a:rPr lang="en-IN" dirty="0"/>
                  <a:t> Class (1)</a:t>
                </a:r>
              </a:p>
              <a:p>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𝑦</m:t>
                            </m:r>
                          </m:e>
                        </m:acc>
                      </m:e>
                      <m:sub>
                        <m:r>
                          <a:rPr lang="ar-AE" i="1">
                            <a:latin typeface="Cambria Math" panose="02040503050406030204" pitchFamily="18" charset="0"/>
                          </a:rPr>
                          <m:t>𝑖</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oMath>
                </a14:m>
                <a:r>
                  <a:rPr lang="ar-AE" dirty="0"/>
                  <a:t>→ </a:t>
                </a:r>
                <a:r>
                  <a:rPr lang="en-IN" dirty="0"/>
                  <a:t>Class (0)</a:t>
                </a:r>
              </a:p>
              <a:p>
                <a:endParaRPr lang="en-IN" dirty="0"/>
              </a:p>
            </p:txBody>
          </p:sp>
        </mc:Choice>
        <mc:Fallback xmlns="">
          <p:sp>
            <p:nvSpPr>
              <p:cNvPr id="3" name="Content Placeholder 2">
                <a:extLst>
                  <a:ext uri="{FF2B5EF4-FFF2-40B4-BE49-F238E27FC236}">
                    <a16:creationId xmlns:a16="http://schemas.microsoft.com/office/drawing/2014/main" id="{0ED2F7E6-D3B2-48F2-6955-FE481C4B5FCC}"/>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2872842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0C628-7996-8D00-0C67-2498798E6176}"/>
              </a:ext>
            </a:extLst>
          </p:cNvPr>
          <p:cNvSpPr>
            <a:spLocks noGrp="1"/>
          </p:cNvSpPr>
          <p:nvPr>
            <p:ph type="title"/>
          </p:nvPr>
        </p:nvSpPr>
        <p:spPr/>
        <p:txBody>
          <a:bodyPr/>
          <a:lstStyle/>
          <a:p>
            <a:pPr algn="just"/>
            <a:r>
              <a:rPr lang="en-US" b="1" dirty="0"/>
              <a:t>Enhancements to the standard gradient boosting algorithm</a:t>
            </a:r>
            <a:endParaRPr lang="en-IN" b="1" dirty="0"/>
          </a:p>
        </p:txBody>
      </p:sp>
      <p:sp>
        <p:nvSpPr>
          <p:cNvPr id="3" name="Content Placeholder 2">
            <a:extLst>
              <a:ext uri="{FF2B5EF4-FFF2-40B4-BE49-F238E27FC236}">
                <a16:creationId xmlns:a16="http://schemas.microsoft.com/office/drawing/2014/main" id="{D8AE9EEC-8EE5-F246-C793-4EE57E22B6E3}"/>
              </a:ext>
            </a:extLst>
          </p:cNvPr>
          <p:cNvSpPr>
            <a:spLocks noGrp="1"/>
          </p:cNvSpPr>
          <p:nvPr>
            <p:ph idx="1"/>
          </p:nvPr>
        </p:nvSpPr>
        <p:spPr/>
        <p:txBody>
          <a:bodyPr>
            <a:normAutofit/>
          </a:bodyPr>
          <a:lstStyle/>
          <a:p>
            <a:r>
              <a:rPr lang="en-US" b="1" dirty="0"/>
              <a:t>Regularization</a:t>
            </a:r>
            <a:endParaRPr lang="en-US" dirty="0"/>
          </a:p>
          <a:p>
            <a:r>
              <a:rPr lang="en-US" b="1" dirty="0"/>
              <a:t>Tree Pruning</a:t>
            </a:r>
          </a:p>
          <a:p>
            <a:r>
              <a:rPr lang="en-US" b="1" dirty="0"/>
              <a:t>Parallel Processing</a:t>
            </a:r>
            <a:endParaRPr lang="en-US" dirty="0"/>
          </a:p>
          <a:p>
            <a:r>
              <a:rPr lang="en-US" b="1" dirty="0"/>
              <a:t>Handling Missing Values</a:t>
            </a:r>
            <a:endParaRPr lang="en-IN" dirty="0"/>
          </a:p>
        </p:txBody>
      </p:sp>
    </p:spTree>
    <p:extLst>
      <p:ext uri="{BB962C8B-B14F-4D97-AF65-F5344CB8AC3E}">
        <p14:creationId xmlns:p14="http://schemas.microsoft.com/office/powerpoint/2010/main" val="3882968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CFB3D-A7ED-35D5-D53A-43344A5D8FCF}"/>
              </a:ext>
            </a:extLst>
          </p:cNvPr>
          <p:cNvSpPr>
            <a:spLocks noGrp="1"/>
          </p:cNvSpPr>
          <p:nvPr>
            <p:ph type="title"/>
          </p:nvPr>
        </p:nvSpPr>
        <p:spPr/>
        <p:txBody>
          <a:bodyPr/>
          <a:lstStyle/>
          <a:p>
            <a:r>
              <a:rPr lang="en-US" b="1" dirty="0"/>
              <a:t>Advantages of XGBoost</a:t>
            </a:r>
            <a:endParaRPr lang="en-IN" dirty="0"/>
          </a:p>
        </p:txBody>
      </p:sp>
      <p:sp>
        <p:nvSpPr>
          <p:cNvPr id="3" name="Content Placeholder 2">
            <a:extLst>
              <a:ext uri="{FF2B5EF4-FFF2-40B4-BE49-F238E27FC236}">
                <a16:creationId xmlns:a16="http://schemas.microsoft.com/office/drawing/2014/main" id="{0535054A-70E7-C928-BB57-3175281A4BD2}"/>
              </a:ext>
            </a:extLst>
          </p:cNvPr>
          <p:cNvSpPr>
            <a:spLocks noGrp="1"/>
          </p:cNvSpPr>
          <p:nvPr>
            <p:ph idx="1"/>
          </p:nvPr>
        </p:nvSpPr>
        <p:spPr/>
        <p:txBody>
          <a:bodyPr/>
          <a:lstStyle/>
          <a:p>
            <a:pPr algn="just" fontAlgn="base"/>
            <a:r>
              <a:rPr lang="en-US" dirty="0"/>
              <a:t>Scalable for large datasets with millions of records.</a:t>
            </a:r>
          </a:p>
          <a:p>
            <a:pPr algn="just" fontAlgn="base"/>
            <a:r>
              <a:rPr lang="en-US" dirty="0"/>
              <a:t>Supports parallel processing and GPU acceleration.</a:t>
            </a:r>
          </a:p>
          <a:p>
            <a:pPr algn="just" fontAlgn="base"/>
            <a:r>
              <a:rPr lang="en-US" dirty="0"/>
              <a:t>Offers customizable parameters and regularization for fine-tuning.</a:t>
            </a:r>
          </a:p>
          <a:p>
            <a:pPr algn="just" fontAlgn="base"/>
            <a:r>
              <a:rPr lang="en-US" dirty="0"/>
              <a:t>Includes feature importance analysis for better insights.</a:t>
            </a:r>
          </a:p>
          <a:p>
            <a:pPr algn="just" fontAlgn="base"/>
            <a:r>
              <a:rPr lang="en-US" dirty="0"/>
              <a:t>Available across multiple programming languages and widely used by data scientists.</a:t>
            </a:r>
          </a:p>
          <a:p>
            <a:endParaRPr lang="en-IN" dirty="0"/>
          </a:p>
        </p:txBody>
      </p:sp>
    </p:spTree>
    <p:extLst>
      <p:ext uri="{BB962C8B-B14F-4D97-AF65-F5344CB8AC3E}">
        <p14:creationId xmlns:p14="http://schemas.microsoft.com/office/powerpoint/2010/main" val="3029256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87B48-1DBA-3252-30A4-E7C5AA02E8C2}"/>
              </a:ext>
            </a:extLst>
          </p:cNvPr>
          <p:cNvSpPr>
            <a:spLocks noGrp="1"/>
          </p:cNvSpPr>
          <p:nvPr>
            <p:ph type="title"/>
          </p:nvPr>
        </p:nvSpPr>
        <p:spPr/>
        <p:txBody>
          <a:bodyPr/>
          <a:lstStyle/>
          <a:p>
            <a:r>
              <a:rPr lang="en-US" b="1" dirty="0"/>
              <a:t>Disadvantages of XGBoost</a:t>
            </a:r>
            <a:endParaRPr lang="en-IN" dirty="0"/>
          </a:p>
        </p:txBody>
      </p:sp>
      <p:sp>
        <p:nvSpPr>
          <p:cNvPr id="3" name="Content Placeholder 2">
            <a:extLst>
              <a:ext uri="{FF2B5EF4-FFF2-40B4-BE49-F238E27FC236}">
                <a16:creationId xmlns:a16="http://schemas.microsoft.com/office/drawing/2014/main" id="{724F3F95-E255-ABBD-63FA-E9BA8936FD9E}"/>
              </a:ext>
            </a:extLst>
          </p:cNvPr>
          <p:cNvSpPr>
            <a:spLocks noGrp="1"/>
          </p:cNvSpPr>
          <p:nvPr>
            <p:ph idx="1"/>
          </p:nvPr>
        </p:nvSpPr>
        <p:spPr/>
        <p:txBody>
          <a:bodyPr/>
          <a:lstStyle/>
          <a:p>
            <a:pPr fontAlgn="base"/>
            <a:r>
              <a:rPr lang="en-US" dirty="0"/>
              <a:t>Computationally intensive, may not be suitable for resource-limited systems.</a:t>
            </a:r>
          </a:p>
          <a:p>
            <a:pPr fontAlgn="base"/>
            <a:r>
              <a:rPr lang="en-US" dirty="0"/>
              <a:t>Sensitive to noise and outliers, careful preprocessing required.</a:t>
            </a:r>
          </a:p>
          <a:p>
            <a:pPr fontAlgn="base"/>
            <a:r>
              <a:rPr lang="en-US" dirty="0"/>
              <a:t>Can overfit, especially on small datasets or with too many trees.</a:t>
            </a:r>
          </a:p>
          <a:p>
            <a:pPr fontAlgn="base"/>
            <a:r>
              <a:rPr lang="en-US" dirty="0"/>
              <a:t>Limited interpretability compared to simpler models, which can be a concern in fields like healthcare or finance.</a:t>
            </a:r>
          </a:p>
          <a:p>
            <a:pPr marL="0" indent="0">
              <a:buNone/>
            </a:pPr>
            <a:endParaRPr lang="en-IN" dirty="0"/>
          </a:p>
        </p:txBody>
      </p:sp>
    </p:spTree>
    <p:extLst>
      <p:ext uri="{BB962C8B-B14F-4D97-AF65-F5344CB8AC3E}">
        <p14:creationId xmlns:p14="http://schemas.microsoft.com/office/powerpoint/2010/main" val="3474596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8E301-050A-90EE-C027-6AF575D71079}"/>
              </a:ext>
            </a:extLst>
          </p:cNvPr>
          <p:cNvSpPr>
            <a:spLocks noGrp="1"/>
          </p:cNvSpPr>
          <p:nvPr>
            <p:ph type="title"/>
          </p:nvPr>
        </p:nvSpPr>
        <p:spPr/>
        <p:txBody>
          <a:bodyPr/>
          <a:lstStyle/>
          <a:p>
            <a:r>
              <a:rPr lang="en-US" b="1" dirty="0"/>
              <a:t>When to use XGBoost?</a:t>
            </a:r>
            <a:endParaRPr lang="en-IN" dirty="0"/>
          </a:p>
        </p:txBody>
      </p:sp>
      <p:sp>
        <p:nvSpPr>
          <p:cNvPr id="3" name="Content Placeholder 2">
            <a:extLst>
              <a:ext uri="{FF2B5EF4-FFF2-40B4-BE49-F238E27FC236}">
                <a16:creationId xmlns:a16="http://schemas.microsoft.com/office/drawing/2014/main" id="{8C4E1147-1B93-D76F-92D2-148A980E948E}"/>
              </a:ext>
            </a:extLst>
          </p:cNvPr>
          <p:cNvSpPr>
            <a:spLocks noGrp="1"/>
          </p:cNvSpPr>
          <p:nvPr>
            <p:ph idx="1"/>
          </p:nvPr>
        </p:nvSpPr>
        <p:spPr/>
        <p:txBody>
          <a:bodyPr>
            <a:normAutofit lnSpcReduction="10000"/>
          </a:bodyPr>
          <a:lstStyle/>
          <a:p>
            <a:pPr algn="just"/>
            <a:r>
              <a:rPr lang="en-US" b="1" dirty="0"/>
              <a:t>Tabular Data</a:t>
            </a:r>
            <a:r>
              <a:rPr lang="en-US" dirty="0"/>
              <a:t>: XGBoost is particularly well-suited for structured, tabular data, such as data stored in CSV files or SQL databases.</a:t>
            </a:r>
          </a:p>
          <a:p>
            <a:pPr algn="just"/>
            <a:r>
              <a:rPr lang="en-US" b="1" dirty="0"/>
              <a:t>Large Datasets</a:t>
            </a:r>
            <a:r>
              <a:rPr lang="en-US" dirty="0"/>
              <a:t>: </a:t>
            </a:r>
            <a:r>
              <a:rPr lang="en-US" dirty="0" err="1"/>
              <a:t>XGBoost’s</a:t>
            </a:r>
            <a:r>
              <a:rPr lang="en-US" dirty="0"/>
              <a:t> efficiency and parallel processing capabilities make it an excellent choice for handling large datasets with numerous features.</a:t>
            </a:r>
          </a:p>
          <a:p>
            <a:pPr algn="just"/>
            <a:r>
              <a:rPr lang="en-US" b="1" dirty="0"/>
              <a:t>Feature Importance</a:t>
            </a:r>
            <a:r>
              <a:rPr lang="en-US" dirty="0"/>
              <a:t>: XGBoost provides built-in feature importance scores, allowing you to identify the most influential variables in your model.</a:t>
            </a:r>
          </a:p>
          <a:p>
            <a:pPr algn="just"/>
            <a:r>
              <a:rPr lang="en-US" b="1" dirty="0"/>
              <a:t>Imbalanced Data</a:t>
            </a:r>
            <a:r>
              <a:rPr lang="en-US" dirty="0"/>
              <a:t>: XGBoost offers hyperparameters, such as `</a:t>
            </a:r>
            <a:r>
              <a:rPr lang="en-US" dirty="0" err="1"/>
              <a:t>scale_pos_weight</a:t>
            </a:r>
            <a:r>
              <a:rPr lang="en-US" dirty="0"/>
              <a:t>`, which can be used to address class imbalance in the data, making it effective for imbalanced classification problems.</a:t>
            </a:r>
          </a:p>
          <a:p>
            <a:pPr algn="just"/>
            <a:endParaRPr lang="en-IN" dirty="0"/>
          </a:p>
        </p:txBody>
      </p:sp>
    </p:spTree>
    <p:extLst>
      <p:ext uri="{BB962C8B-B14F-4D97-AF65-F5344CB8AC3E}">
        <p14:creationId xmlns:p14="http://schemas.microsoft.com/office/powerpoint/2010/main" val="197491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0E856-A657-FCA4-F4EF-03DA963DB036}"/>
              </a:ext>
            </a:extLst>
          </p:cNvPr>
          <p:cNvSpPr>
            <a:spLocks noGrp="1"/>
          </p:cNvSpPr>
          <p:nvPr>
            <p:ph type="title"/>
          </p:nvPr>
        </p:nvSpPr>
        <p:spPr/>
        <p:txBody>
          <a:bodyPr/>
          <a:lstStyle/>
          <a:p>
            <a:r>
              <a:rPr lang="en-IN" b="1" dirty="0"/>
              <a:t>References</a:t>
            </a:r>
          </a:p>
        </p:txBody>
      </p:sp>
      <p:sp>
        <p:nvSpPr>
          <p:cNvPr id="3" name="Content Placeholder 2">
            <a:extLst>
              <a:ext uri="{FF2B5EF4-FFF2-40B4-BE49-F238E27FC236}">
                <a16:creationId xmlns:a16="http://schemas.microsoft.com/office/drawing/2014/main" id="{D9E79039-4C21-C462-EA7D-2CBE5FA97030}"/>
              </a:ext>
            </a:extLst>
          </p:cNvPr>
          <p:cNvSpPr>
            <a:spLocks noGrp="1"/>
          </p:cNvSpPr>
          <p:nvPr>
            <p:ph idx="1"/>
          </p:nvPr>
        </p:nvSpPr>
        <p:spPr>
          <a:xfrm>
            <a:off x="838200" y="1574800"/>
            <a:ext cx="10515600" cy="4602163"/>
          </a:xfrm>
        </p:spPr>
        <p:txBody>
          <a:bodyPr/>
          <a:lstStyle/>
          <a:p>
            <a:r>
              <a:rPr lang="en-IN" dirty="0">
                <a:hlinkClick r:id="rId2"/>
              </a:rPr>
              <a:t>XGBoost – </a:t>
            </a:r>
            <a:r>
              <a:rPr lang="en-IN" dirty="0" err="1">
                <a:hlinkClick r:id="rId2"/>
              </a:rPr>
              <a:t>GeeksforGeeks</a:t>
            </a:r>
            <a:endParaRPr lang="en-IN" dirty="0"/>
          </a:p>
          <a:p>
            <a:r>
              <a:rPr lang="en-US" dirty="0">
                <a:hlinkClick r:id="rId3"/>
              </a:rPr>
              <a:t>XGBoost Explained: A Beginner’s Guide | by Jamie Crossman-Smith | Low Code for Data Science | Medium</a:t>
            </a:r>
            <a:endParaRPr lang="en-IN" dirty="0"/>
          </a:p>
          <a:p>
            <a:r>
              <a:rPr lang="en-US" dirty="0">
                <a:hlinkClick r:id="rId4"/>
              </a:rPr>
              <a:t>What is the XGBoost algorithm and how does it work?</a:t>
            </a:r>
            <a:endParaRPr lang="en-US" dirty="0"/>
          </a:p>
          <a:p>
            <a:r>
              <a:rPr lang="en-IN" dirty="0">
                <a:hlinkClick r:id="rId5"/>
              </a:rPr>
              <a:t>Regularization — Understanding L1 and L2 regularization for Deep Learning | by Ujwal Tewari | Analytics Vidhya | Medium</a:t>
            </a:r>
            <a:endParaRPr lang="en-IN" dirty="0"/>
          </a:p>
          <a:p>
            <a:r>
              <a:rPr lang="en-US" dirty="0">
                <a:hlinkClick r:id="rId6"/>
              </a:rPr>
              <a:t>What is XGBoost? An Introduction to XGBoost Algorithm in Machine Learning | Simplilearn</a:t>
            </a:r>
            <a:endParaRPr lang="en-US" dirty="0"/>
          </a:p>
          <a:p>
            <a:r>
              <a:rPr lang="en-US" dirty="0">
                <a:hlinkClick r:id="rId7"/>
              </a:rPr>
              <a:t>What is learning rate in machine learning? - California Learning Resource Network</a:t>
            </a:r>
            <a:endParaRPr lang="en-IN" dirty="0"/>
          </a:p>
          <a:p>
            <a:endParaRPr lang="en-IN" dirty="0"/>
          </a:p>
        </p:txBody>
      </p:sp>
    </p:spTree>
    <p:extLst>
      <p:ext uri="{BB962C8B-B14F-4D97-AF65-F5344CB8AC3E}">
        <p14:creationId xmlns:p14="http://schemas.microsoft.com/office/powerpoint/2010/main" val="28838541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TotalTime>
  <Words>915</Words>
  <Application>Microsoft Office PowerPoint</Application>
  <PresentationFormat>Widescreen</PresentationFormat>
  <Paragraphs>98</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Cambria Math</vt:lpstr>
      <vt:lpstr>Office Theme</vt:lpstr>
      <vt:lpstr>XG-Boost</vt:lpstr>
      <vt:lpstr>Introduction</vt:lpstr>
      <vt:lpstr>Working of the model</vt:lpstr>
      <vt:lpstr>Working of the model (cont.)</vt:lpstr>
      <vt:lpstr>Objective function</vt:lpstr>
      <vt:lpstr>Loss Function</vt:lpstr>
      <vt:lpstr>Regularization term</vt:lpstr>
      <vt:lpstr>Additive Training (Boosting Process) </vt:lpstr>
      <vt:lpstr>Second-Order Taylor Expansion</vt:lpstr>
      <vt:lpstr>Optimal Leaf Weight</vt:lpstr>
      <vt:lpstr>Gain from a Split</vt:lpstr>
      <vt:lpstr>Learning Rate</vt:lpstr>
      <vt:lpstr>Final mathematical representation</vt:lpstr>
      <vt:lpstr>Enhancements to the standard gradient boosting algorithm</vt:lpstr>
      <vt:lpstr>Advantages of XGBoost</vt:lpstr>
      <vt:lpstr>Disadvantages of XGBoost</vt:lpstr>
      <vt:lpstr>When to use XGBoost?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Sushma Vatekar</dc:creator>
  <cp:lastModifiedBy>Sushma Vatekar</cp:lastModifiedBy>
  <cp:revision>12</cp:revision>
  <dcterms:created xsi:type="dcterms:W3CDTF">2026-01-27T14:30:23Z</dcterms:created>
  <dcterms:modified xsi:type="dcterms:W3CDTF">2026-01-27T17:46:55Z</dcterms:modified>
</cp:coreProperties>
</file>