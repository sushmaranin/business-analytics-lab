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50743-4A49-268E-2355-BB9BDB96B0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A885E-9A15-A05E-D97A-F09D9F70CC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F28A7-A90D-8DE8-28FC-4AC46D31B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DAB3C-B8ED-48F5-8C67-E9CF5BBFE1A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9689F-3A43-BF02-A678-C8F753400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073E7-C305-A211-C786-D0D7D8464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532C4-036B-41D3-AD21-CF78EA0C7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130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37E19-4421-21B3-2F1E-BE7E1F9C4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DA7DB-5A50-033A-1AA7-6A8D7B97D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7A853-8AA1-066E-F557-E1314F783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DAB3C-B8ED-48F5-8C67-E9CF5BBFE1A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6A71C-9925-E019-CFA9-9FB25AACF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D7AFF-6F41-42F3-DC2A-55CBDD2C9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532C4-036B-41D3-AD21-CF78EA0C7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552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08725-4F4D-4CE0-803A-1B7E6E3CE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D990D-57C0-9023-F1BC-BFB7BB1EF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46B44-0DA4-E0C8-3F40-7759028CA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DAB3C-B8ED-48F5-8C67-E9CF5BBFE1A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45491-678B-BC05-E712-2075F1938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1B6D0-42DC-7BE3-A33F-47D25C9A2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532C4-036B-41D3-AD21-CF78EA0C7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189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CBB52-F1D7-F6F4-05EB-889A507DA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0A27D-8B35-6F46-FB60-785E045991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21859D-A8C3-B7F0-8B05-D751841ED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CAEF2-2A50-6F84-0984-A3CA9216A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DAB3C-B8ED-48F5-8C67-E9CF5BBFE1A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16512A-A20A-87B9-69B1-2710D5C1C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B0F493-31F1-9314-4E71-E0A6A56A1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532C4-036B-41D3-AD21-CF78EA0C7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655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5CA3A-2CB8-3214-35EC-0E51A8C25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DFE3D4-8E7D-D680-E2DB-DDD4FE02F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CC3660-6E28-8F99-8FD6-56E3F1265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03F860-941D-DC8C-5463-E27DD0C944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D553C4-AC69-ACC1-9C17-D43B83B6AD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50DF9F-969D-8E55-0C15-DEA606A18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DAB3C-B8ED-48F5-8C67-E9CF5BBFE1A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4603BC-90E9-FB7E-5830-56A4870DE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7D1A55-8913-6EB8-5021-BD00A1D71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532C4-036B-41D3-AD21-CF78EA0C7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193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9F01F-3EAE-A8BC-030D-6215FB094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8D6B81-C282-F602-D4F9-37343FD77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DAB3C-B8ED-48F5-8C67-E9CF5BBFE1A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2BC99-3E0F-3791-68F6-AA393AEF8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A94E18-D1B1-ED69-BE73-CFAFD221C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532C4-036B-41D3-AD21-CF78EA0C7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088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C0E4DF-B4F4-549D-6AC0-4F3CF5E2C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DAB3C-B8ED-48F5-8C67-E9CF5BBFE1A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C4DB30-E499-3CE3-A0F0-D29CE7813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E384E-F4BF-72F4-222A-2FB9E3F06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532C4-036B-41D3-AD21-CF78EA0C7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910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926DA-6479-1ECB-F0F9-1500A5245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1EC8A-855D-569F-1592-34D8B6112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DC7BB2-6DAB-DF79-80B4-2F9911F917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A15B3-2808-085F-3E2B-79EDE3562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DAB3C-B8ED-48F5-8C67-E9CF5BBFE1A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02927-0A6C-4311-A972-D22A801F0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AE334F-AFE7-11E2-310F-6649F7E27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532C4-036B-41D3-AD21-CF78EA0C7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972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540C-5DF2-FEC9-B8EA-BC61C830B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C03C06-9847-C6CB-C4B7-D3CD70FF4A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94F25D-72A6-4B97-7F53-B3202CB5B7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6EB347-EDA5-E002-B842-5770496F7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DAB3C-B8ED-48F5-8C67-E9CF5BBFE1A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3ED6E5-2361-BD1A-9D29-ECAE75F21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4133E9-A745-EBC3-A59A-A8E02838A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532C4-036B-41D3-AD21-CF78EA0C7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373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6FC9B-79FA-6F42-73BD-F3380369E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0235BE-69EB-1DA6-9CB9-8D82AC93BE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0BE7C-53F1-0AD8-8974-69813C6B1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DAB3C-B8ED-48F5-8C67-E9CF5BBFE1A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FAECA-C5E2-4742-62DD-58962FA8E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F059E-DEB5-9688-E9AD-2557CB859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532C4-036B-41D3-AD21-CF78EA0C7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836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1F478-4322-3BC5-4C13-DA3E7853CA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DD62D3-4A02-1A20-D366-8A95141FFF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2671E-9F7A-EEF9-1838-1C3336E67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DAB3C-B8ED-48F5-8C67-E9CF5BBFE1A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05089-9703-D702-4654-BF03AD477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CE7A2-0B03-C021-3D45-B16DD3ED7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532C4-036B-41D3-AD21-CF78EA0C7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937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5D300A-7785-0F24-3EF9-56BD18FC4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E6936-1E3B-8D3D-DA74-76BD563EF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FC653-FCC1-9F64-F010-9F958F9BBF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2DAB3C-B8ED-48F5-8C67-E9CF5BBFE1A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7411B-AB42-2A6A-D060-F507AC9E42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F4EF1-9064-CE2D-8198-7D386344E8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5532C4-036B-41D3-AD21-CF78EA0C7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8567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machine_learning/machine_learning_knn_nearest_neighbors.htm" TargetMode="External"/><Relationship Id="rId2" Type="http://schemas.openxmlformats.org/officeDocument/2006/relationships/hyperlink" Target="https://www.geeksforgeeks.org/machine-learning/k-nearest-neighbour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3schools.com/python/python_ml_knn.as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8A4F7-E46A-CD4E-0257-08FCF6E528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K-Nearest Neighbors (KNN)</a:t>
            </a:r>
            <a:r>
              <a:rPr lang="en-US" dirty="0"/>
              <a:t> </a:t>
            </a:r>
            <a:r>
              <a:rPr lang="en-US" b="1" dirty="0"/>
              <a:t>algorithm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72FBF3-EAB4-9624-F58F-3950498944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988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54885-6863-3E6E-CF18-0CDE43B83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95EA7-FF09-517D-5F95-7E4AFE486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The </a:t>
            </a:r>
            <a:r>
              <a:rPr lang="en-US" b="1" dirty="0"/>
              <a:t>K-Nearest Neighbors (KNN)</a:t>
            </a:r>
            <a:r>
              <a:rPr lang="en-US" dirty="0"/>
              <a:t> algorithm is a </a:t>
            </a:r>
            <a:r>
              <a:rPr lang="en-US" b="1" dirty="0"/>
              <a:t>supervised, non-parametric, instance-based</a:t>
            </a:r>
            <a:r>
              <a:rPr lang="en-US" dirty="0"/>
              <a:t> learning method widely used for </a:t>
            </a:r>
            <a:r>
              <a:rPr lang="en-US" b="1" dirty="0"/>
              <a:t>classification</a:t>
            </a:r>
            <a:r>
              <a:rPr lang="en-US" dirty="0"/>
              <a:t> and </a:t>
            </a:r>
            <a:r>
              <a:rPr lang="en-US" b="1" dirty="0"/>
              <a:t>regression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It predicts the label of a new data point by looking at the </a:t>
            </a:r>
            <a:r>
              <a:rPr lang="en-US" b="1" dirty="0"/>
              <a:t>k closest points</a:t>
            </a:r>
            <a:r>
              <a:rPr lang="en-US" dirty="0"/>
              <a:t> in the training set and applying </a:t>
            </a:r>
            <a:r>
              <a:rPr lang="en-US" b="1" dirty="0"/>
              <a:t>majority voting</a:t>
            </a:r>
            <a:r>
              <a:rPr lang="en-US" dirty="0"/>
              <a:t> (classification) or </a:t>
            </a:r>
            <a:r>
              <a:rPr lang="en-US" b="1" dirty="0"/>
              <a:t>averaging</a:t>
            </a:r>
            <a:r>
              <a:rPr lang="en-US" dirty="0"/>
              <a:t> (regression).</a:t>
            </a:r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9075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33AA4-5F05-7274-3317-7C0D88A37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characteristics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D9FD6-CB9B-7D44-50F4-CBC395CE1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Lazy learner</a:t>
            </a:r>
            <a:r>
              <a:rPr lang="en-US" dirty="0"/>
              <a:t>: No explicit training phase; stores all training data.</a:t>
            </a:r>
          </a:p>
          <a:p>
            <a:pPr algn="just"/>
            <a:r>
              <a:rPr lang="en-US" b="1" dirty="0"/>
              <a:t>Distance-based</a:t>
            </a:r>
            <a:r>
              <a:rPr lang="en-US" dirty="0"/>
              <a:t>: Common metrics include </a:t>
            </a:r>
            <a:r>
              <a:rPr lang="en-US" b="1" dirty="0"/>
              <a:t>Euclidean</a:t>
            </a:r>
            <a:r>
              <a:rPr lang="en-US" dirty="0"/>
              <a:t>, </a:t>
            </a:r>
            <a:r>
              <a:rPr lang="en-US" b="1" dirty="0"/>
              <a:t>Manhattan</a:t>
            </a:r>
            <a:r>
              <a:rPr lang="en-US" dirty="0"/>
              <a:t>, and </a:t>
            </a:r>
            <a:r>
              <a:rPr lang="en-US" b="1" dirty="0"/>
              <a:t>Minkowski</a:t>
            </a:r>
            <a:r>
              <a:rPr lang="en-US" dirty="0"/>
              <a:t> distances.</a:t>
            </a:r>
          </a:p>
          <a:p>
            <a:pPr algn="just"/>
            <a:r>
              <a:rPr lang="en-US" b="1" dirty="0"/>
              <a:t>Choice of k</a:t>
            </a:r>
            <a:r>
              <a:rPr lang="en-US" dirty="0"/>
              <a:t>: Small k → high variance (overfitting), large k → high bias (underfitting).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6423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1F6BA-0B34-DB71-0CE4-F90F28F52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'K' in K Nearest Neighbour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B30D1-2734-EED0-8B58-37CB88997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2400"/>
            <a:ext cx="10515600" cy="4754563"/>
          </a:xfrm>
        </p:spPr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en-US" dirty="0"/>
              <a:t>In the k-Nearest Neighbours algorithm k is just a number that tells the algorithm how many nearby points or neighbors to look at when it makes a decision.</a:t>
            </a:r>
          </a:p>
          <a:p>
            <a:pPr marL="0" indent="0" fontAlgn="base">
              <a:buNone/>
            </a:pPr>
            <a:r>
              <a:rPr lang="en-US" b="1" dirty="0"/>
              <a:t>How to choose the value of k for KNN Algorithm?</a:t>
            </a:r>
          </a:p>
          <a:p>
            <a:pPr algn="just" fontAlgn="base"/>
            <a:r>
              <a:rPr lang="en-US" dirty="0"/>
              <a:t>The value of k in KNN decides how many neighbors the algorithm looks at when making a prediction.</a:t>
            </a:r>
          </a:p>
          <a:p>
            <a:pPr algn="just" fontAlgn="base"/>
            <a:r>
              <a:rPr lang="en-US" dirty="0"/>
              <a:t>Choosing the right k is important for good results.</a:t>
            </a:r>
          </a:p>
          <a:p>
            <a:pPr algn="just" fontAlgn="base"/>
            <a:r>
              <a:rPr lang="en-US" dirty="0"/>
              <a:t>If the data has lots of noise or outliers, using a larger k can make the predictions more stable.</a:t>
            </a:r>
          </a:p>
          <a:p>
            <a:pPr algn="just" fontAlgn="base"/>
            <a:r>
              <a:rPr lang="en-US" dirty="0"/>
              <a:t>But if k is too large the model may become too simple and miss important patterns and this is called underfitting.</a:t>
            </a:r>
          </a:p>
          <a:p>
            <a:pPr algn="just" fontAlgn="base"/>
            <a:r>
              <a:rPr lang="en-US" dirty="0"/>
              <a:t>So, k should be picked carefully based on the data.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7558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FE883-4F14-C931-9F7D-A867AD55D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How to choose the value of k for KNN Algorithm?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D2317-88F4-CA52-DB69-FEA65BD30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 fontAlgn="base">
              <a:buNone/>
            </a:pPr>
            <a:r>
              <a:rPr lang="en-US" dirty="0"/>
              <a:t>If K is too small or too large it can lead to overfitting or underfitting.</a:t>
            </a:r>
          </a:p>
          <a:p>
            <a:pPr algn="just" fontAlgn="base"/>
            <a:r>
              <a:rPr lang="en-US" b="1" dirty="0"/>
              <a:t>Small K values</a:t>
            </a:r>
            <a:r>
              <a:rPr lang="en-US" dirty="0"/>
              <a:t>: This can make the model highly sensitive to noise and might overfit the training data. It will focus on nearest neighbors which may not always represent the global distribution.</a:t>
            </a:r>
          </a:p>
          <a:p>
            <a:pPr algn="just" fontAlgn="base"/>
            <a:r>
              <a:rPr lang="en-US" b="1" dirty="0"/>
              <a:t>Large K values</a:t>
            </a:r>
            <a:r>
              <a:rPr lang="en-US" dirty="0"/>
              <a:t>: This can make the model smooth out the decision boundary, leading to underfitting. The classifier becomes less sensitive to local patterns and more influenced by the overall data distribution.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9701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9C0A2-5D2A-D5AA-4C5A-CD2549387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Statistical Methods for Selecting 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4957C-6D27-C01F-3629-904993108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040"/>
            <a:ext cx="10515600" cy="4713923"/>
          </a:xfrm>
        </p:spPr>
        <p:txBody>
          <a:bodyPr>
            <a:normAutofit/>
          </a:bodyPr>
          <a:lstStyle/>
          <a:p>
            <a:pPr algn="just" fontAlgn="base"/>
            <a:r>
              <a:rPr lang="en-US" b="1" dirty="0"/>
              <a:t>Cross-Validation</a:t>
            </a:r>
            <a:r>
              <a:rPr lang="en-US" dirty="0"/>
              <a:t>: Cross-Validation</a:t>
            </a:r>
            <a:r>
              <a:rPr lang="en-US" u="sng" dirty="0"/>
              <a:t> </a:t>
            </a:r>
            <a:r>
              <a:rPr lang="en-US" dirty="0"/>
              <a:t>is a good way to find the best value of k is by using k-fold cross-validation. This means dividing the dataset into k parts. The model is trained on some of these parts and tested on the remaining ones. This process is repeated for each part. The k value that gives the highest average accuracy during these tests is usually the best one to use.</a:t>
            </a:r>
          </a:p>
          <a:p>
            <a:pPr algn="just" fontAlgn="base"/>
            <a:r>
              <a:rPr lang="en-US" b="1" dirty="0"/>
              <a:t>Odd Values for k</a:t>
            </a:r>
            <a:r>
              <a:rPr lang="en-US" dirty="0"/>
              <a:t>: It’s a good idea to use an odd number for k especially in classification problems. This helps avoid ties when deciding which class is the most common among the neighbors.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3952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449D4C5-CCE4-80CC-FE8F-9EC9EAF25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Statistical Methods for Selecting k (cont.)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019B2B-A40A-A1E5-4D0E-F18797584E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6720" y="3528854"/>
            <a:ext cx="6096000" cy="304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8EC204-74A5-F773-6825-4956009CA242}"/>
              </a:ext>
            </a:extLst>
          </p:cNvPr>
          <p:cNvSpPr txBox="1"/>
          <p:nvPr/>
        </p:nvSpPr>
        <p:spPr>
          <a:xfrm>
            <a:off x="1036320" y="2003197"/>
            <a:ext cx="101498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US" b="1" dirty="0"/>
              <a:t>Elbow Method</a:t>
            </a:r>
            <a:r>
              <a:rPr lang="en-US" dirty="0"/>
              <a:t>: In Elbow Method we draw a graph showing the error rate or accuracy for different k values. As k increases the error usually drops at first. But after a certain point error stops decreasing quickly. The point where the curve changes direction and looks like an "elbow" is usually the best choice for k.</a:t>
            </a:r>
          </a:p>
        </p:txBody>
      </p:sp>
    </p:spTree>
    <p:extLst>
      <p:ext uri="{BB962C8B-B14F-4D97-AF65-F5344CB8AC3E}">
        <p14:creationId xmlns:p14="http://schemas.microsoft.com/office/powerpoint/2010/main" val="282970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F4502-55B0-7FE3-4248-0D036515C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Distance Metrics Used in KNN Algorithm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BCB650-4F87-D3AA-BB30-213FAA7A23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4000"/>
                <a:ext cx="10515600" cy="4652963"/>
              </a:xfrm>
            </p:spPr>
            <p:txBody>
              <a:bodyPr>
                <a:normAutofit lnSpcReduction="10000"/>
              </a:bodyPr>
              <a:lstStyle/>
              <a:p>
                <a:pPr marL="0" indent="0" fontAlgn="base">
                  <a:buNone/>
                </a:pPr>
                <a:r>
                  <a:rPr lang="en-IN" b="1" dirty="0"/>
                  <a:t>1. Euclidean Distance</a:t>
                </a:r>
              </a:p>
              <a:p>
                <a:pPr fontAlgn="base"/>
                <a:endParaRPr lang="en-IN" dirty="0"/>
              </a:p>
              <a:p>
                <a:pPr marL="0" indent="0" fontAlgn="base">
                  <a:buNone/>
                </a:pPr>
                <a:endParaRPr lang="en-IN" b="1" dirty="0"/>
              </a:p>
              <a:p>
                <a:pPr marL="0" indent="0" fontAlgn="base">
                  <a:buNone/>
                </a:pPr>
                <a:endParaRPr lang="en-IN" b="1" dirty="0"/>
              </a:p>
              <a:p>
                <a:pPr marL="0" indent="0" fontAlgn="base">
                  <a:buNone/>
                </a:pPr>
                <a:r>
                  <a:rPr lang="en-IN" b="1" dirty="0"/>
                  <a:t>2. Manhattan Distance (</a:t>
                </a:r>
                <a:r>
                  <a:rPr lang="en-IN" dirty="0"/>
                  <a:t>taxicab distance)</a:t>
                </a:r>
              </a:p>
              <a:p>
                <a:pPr marL="0" indent="0" fontAlgn="base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∣"/>
                              <m:endChr m:val="∣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ar-AE" i="1" dirty="0"/>
              </a:p>
              <a:p>
                <a:pPr marL="0" indent="0" fontAlgn="base">
                  <a:buNone/>
                </a:pPr>
                <a:r>
                  <a:rPr lang="ar-AE" b="1" dirty="0"/>
                  <a:t>3</a:t>
                </a:r>
                <a:r>
                  <a:rPr lang="en-IN" b="1" dirty="0"/>
                  <a:t>.Minkowski Distance</a:t>
                </a:r>
              </a:p>
              <a:p>
                <a:pPr marL="457200" lvl="1" indent="0" fontAlgn="base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subSup"/>
                                  <m:grow m:val="on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ar-AE" i="1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BCB650-4F87-D3AA-BB30-213FAA7A23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4000"/>
                <a:ext cx="10515600" cy="4652963"/>
              </a:xfrm>
              <a:blipFill>
                <a:blip r:embed="rId2"/>
                <a:stretch>
                  <a:fillRect l="-1217" t="-28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560435EE-9149-8E34-7955-765071E97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9848" y="1911304"/>
            <a:ext cx="4534071" cy="1199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575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74AC1-E627-4E49-BCFB-D1C29EF09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Working of KNN algorithm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0AD59-8913-5571-20CA-FE6938D2B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2560"/>
            <a:ext cx="10515600" cy="4744403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dirty="0"/>
              <a:t>Step 1: Selecting the optimal value of K</a:t>
            </a:r>
          </a:p>
          <a:p>
            <a:pPr marL="0" indent="0" fontAlgn="base">
              <a:buNone/>
            </a:pPr>
            <a:r>
              <a:rPr lang="en-US" dirty="0"/>
              <a:t>Step 2: Calculating distance</a:t>
            </a:r>
          </a:p>
          <a:p>
            <a:pPr marL="0" indent="0" fontAlgn="base">
              <a:buNone/>
            </a:pPr>
            <a:r>
              <a:rPr lang="en-US" dirty="0"/>
              <a:t>Step 3: Finding Nearest Neighbors</a:t>
            </a:r>
          </a:p>
          <a:p>
            <a:pPr marL="0" indent="0" fontAlgn="base">
              <a:buNone/>
            </a:pPr>
            <a:r>
              <a:rPr lang="en-US" dirty="0"/>
              <a:t>Step 4: Voting for Classification or Taking Average for Regression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4993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94EDA-99BF-0D3C-8A36-DC66B4AE1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5995"/>
          </a:xfrm>
        </p:spPr>
        <p:txBody>
          <a:bodyPr/>
          <a:lstStyle/>
          <a:p>
            <a:r>
              <a:rPr lang="en-IN" b="1" dirty="0"/>
              <a:t>Sample code snippet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BADE1-3475-1B70-16C1-262D48F7E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5440"/>
            <a:ext cx="10515600" cy="456152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sklearn.neighbors</a:t>
            </a:r>
            <a:r>
              <a:rPr lang="en-IN" dirty="0"/>
              <a:t> import </a:t>
            </a:r>
            <a:r>
              <a:rPr lang="en-IN" dirty="0" err="1"/>
              <a:t>KNeighborsClassifier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sklearn.model_selection</a:t>
            </a:r>
            <a:r>
              <a:rPr lang="en-IN" dirty="0"/>
              <a:t> import </a:t>
            </a:r>
            <a:r>
              <a:rPr lang="en-IN" dirty="0" err="1"/>
              <a:t>train_test_split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sklearn.preprocessing</a:t>
            </a:r>
            <a:r>
              <a:rPr lang="en-IN" dirty="0"/>
              <a:t> import </a:t>
            </a:r>
            <a:r>
              <a:rPr lang="en-IN" dirty="0" err="1"/>
              <a:t>StandardScaler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sklearn.metrics</a:t>
            </a:r>
            <a:r>
              <a:rPr lang="en-IN" dirty="0"/>
              <a:t> import </a:t>
            </a:r>
            <a:r>
              <a:rPr lang="en-IN" dirty="0" err="1"/>
              <a:t>accuracy_score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# Sample feature matrix X and target y</a:t>
            </a:r>
          </a:p>
          <a:p>
            <a:pPr marL="0" indent="0">
              <a:buNone/>
            </a:pPr>
            <a:r>
              <a:rPr lang="en-IN" dirty="0"/>
              <a:t># X = features, y = labels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# Split data</a:t>
            </a:r>
          </a:p>
          <a:p>
            <a:pPr marL="0" indent="0">
              <a:buNone/>
            </a:pPr>
            <a:r>
              <a:rPr lang="en-IN" dirty="0" err="1"/>
              <a:t>X_train</a:t>
            </a:r>
            <a:r>
              <a:rPr lang="en-IN" dirty="0"/>
              <a:t>, </a:t>
            </a:r>
            <a:r>
              <a:rPr lang="en-IN" dirty="0" err="1"/>
              <a:t>X_test</a:t>
            </a:r>
            <a:r>
              <a:rPr lang="en-IN" dirty="0"/>
              <a:t>, </a:t>
            </a:r>
            <a:r>
              <a:rPr lang="en-IN" dirty="0" err="1"/>
              <a:t>y_train</a:t>
            </a:r>
            <a:r>
              <a:rPr lang="en-IN" dirty="0"/>
              <a:t>, </a:t>
            </a:r>
            <a:r>
              <a:rPr lang="en-IN" dirty="0" err="1"/>
              <a:t>y_test</a:t>
            </a:r>
            <a:r>
              <a:rPr lang="en-IN" dirty="0"/>
              <a:t> = </a:t>
            </a:r>
            <a:r>
              <a:rPr lang="en-IN" dirty="0" err="1"/>
              <a:t>train_test_split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    X, y, </a:t>
            </a:r>
            <a:r>
              <a:rPr lang="en-IN" dirty="0" err="1"/>
              <a:t>test_size</a:t>
            </a:r>
            <a:r>
              <a:rPr lang="en-IN" dirty="0"/>
              <a:t>=0.2, </a:t>
            </a:r>
            <a:r>
              <a:rPr lang="en-IN" dirty="0" err="1"/>
              <a:t>random_state</a:t>
            </a:r>
            <a:r>
              <a:rPr lang="en-IN" dirty="0"/>
              <a:t>=42</a:t>
            </a:r>
          </a:p>
          <a:p>
            <a:pPr marL="0" indent="0">
              <a:buNone/>
            </a:pPr>
            <a:r>
              <a:rPr lang="en-IN" dirty="0"/>
              <a:t>)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0629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19562-E4DA-4338-E4E0-DC9B5B843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4395"/>
          </a:xfrm>
        </p:spPr>
        <p:txBody>
          <a:bodyPr/>
          <a:lstStyle/>
          <a:p>
            <a:r>
              <a:rPr lang="en-IN" b="1" dirty="0"/>
              <a:t>Sample code snippet (cont.)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FC5D0-4A64-EAE6-B341-2EE635609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9520"/>
            <a:ext cx="10515600" cy="541528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# Feature scaling (important for KNN)</a:t>
            </a:r>
          </a:p>
          <a:p>
            <a:pPr marL="0" indent="0">
              <a:buNone/>
            </a:pPr>
            <a:r>
              <a:rPr lang="en-IN" dirty="0"/>
              <a:t>scaler = </a:t>
            </a:r>
            <a:r>
              <a:rPr lang="en-IN" dirty="0" err="1"/>
              <a:t>StandardScaler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 err="1"/>
              <a:t>X_train</a:t>
            </a:r>
            <a:r>
              <a:rPr lang="en-IN" dirty="0"/>
              <a:t> = </a:t>
            </a:r>
            <a:r>
              <a:rPr lang="en-IN" dirty="0" err="1"/>
              <a:t>scaler.fit_transform</a:t>
            </a:r>
            <a:r>
              <a:rPr lang="en-IN" dirty="0"/>
              <a:t>(</a:t>
            </a:r>
            <a:r>
              <a:rPr lang="en-IN" dirty="0" err="1"/>
              <a:t>X_train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 err="1"/>
              <a:t>X_test</a:t>
            </a:r>
            <a:r>
              <a:rPr lang="en-IN" dirty="0"/>
              <a:t> = </a:t>
            </a:r>
            <a:r>
              <a:rPr lang="en-IN" dirty="0" err="1"/>
              <a:t>scaler.transform</a:t>
            </a:r>
            <a:r>
              <a:rPr lang="en-IN" dirty="0"/>
              <a:t>(</a:t>
            </a:r>
            <a:r>
              <a:rPr lang="en-IN" dirty="0" err="1"/>
              <a:t>X_test</a:t>
            </a:r>
            <a:r>
              <a:rPr lang="en-IN" dirty="0"/>
              <a:t>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# Create KNN model</a:t>
            </a:r>
          </a:p>
          <a:p>
            <a:pPr marL="0" indent="0">
              <a:buNone/>
            </a:pPr>
            <a:r>
              <a:rPr lang="en-IN" dirty="0" err="1"/>
              <a:t>knn</a:t>
            </a:r>
            <a:r>
              <a:rPr lang="en-IN" dirty="0"/>
              <a:t> = </a:t>
            </a:r>
            <a:r>
              <a:rPr lang="en-IN" dirty="0" err="1"/>
              <a:t>KNeighborsClassifier</a:t>
            </a:r>
            <a:r>
              <a:rPr lang="en-IN" dirty="0"/>
              <a:t>(</a:t>
            </a:r>
            <a:r>
              <a:rPr lang="en-IN" dirty="0" err="1"/>
              <a:t>n_neighbors</a:t>
            </a:r>
            <a:r>
              <a:rPr lang="en-IN" dirty="0"/>
              <a:t>=5, metric='</a:t>
            </a:r>
            <a:r>
              <a:rPr lang="en-IN" dirty="0" err="1"/>
              <a:t>euclidean</a:t>
            </a:r>
            <a:r>
              <a:rPr lang="en-IN" dirty="0"/>
              <a:t>')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# Train model</a:t>
            </a:r>
          </a:p>
          <a:p>
            <a:pPr marL="0" indent="0">
              <a:buNone/>
            </a:pPr>
            <a:r>
              <a:rPr lang="en-IN" dirty="0" err="1"/>
              <a:t>knn.fit</a:t>
            </a:r>
            <a:r>
              <a:rPr lang="en-IN" dirty="0"/>
              <a:t>(</a:t>
            </a:r>
            <a:r>
              <a:rPr lang="en-IN" dirty="0" err="1"/>
              <a:t>X_train</a:t>
            </a:r>
            <a:r>
              <a:rPr lang="en-IN" dirty="0"/>
              <a:t>, </a:t>
            </a:r>
            <a:r>
              <a:rPr lang="en-IN" dirty="0" err="1"/>
              <a:t>y_train</a:t>
            </a:r>
            <a:r>
              <a:rPr lang="en-IN" dirty="0"/>
              <a:t>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# Predictions</a:t>
            </a:r>
          </a:p>
          <a:p>
            <a:pPr marL="0" indent="0">
              <a:buNone/>
            </a:pPr>
            <a:r>
              <a:rPr lang="en-IN" dirty="0" err="1"/>
              <a:t>y_pred</a:t>
            </a:r>
            <a:r>
              <a:rPr lang="en-IN" dirty="0"/>
              <a:t> = </a:t>
            </a:r>
            <a:r>
              <a:rPr lang="en-IN" dirty="0" err="1"/>
              <a:t>knn.predict</a:t>
            </a:r>
            <a:r>
              <a:rPr lang="en-IN" dirty="0"/>
              <a:t>(</a:t>
            </a:r>
            <a:r>
              <a:rPr lang="en-IN" dirty="0" err="1"/>
              <a:t>X_test</a:t>
            </a:r>
            <a:r>
              <a:rPr lang="en-IN" dirty="0"/>
              <a:t>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# Model accuracy</a:t>
            </a:r>
          </a:p>
          <a:p>
            <a:pPr marL="0" indent="0">
              <a:buNone/>
            </a:pPr>
            <a:r>
              <a:rPr lang="en-IN" dirty="0"/>
              <a:t>accuracy = </a:t>
            </a:r>
            <a:r>
              <a:rPr lang="en-IN" dirty="0" err="1"/>
              <a:t>accuracy_score</a:t>
            </a:r>
            <a:r>
              <a:rPr lang="en-IN" dirty="0"/>
              <a:t>(</a:t>
            </a:r>
            <a:r>
              <a:rPr lang="en-IN" dirty="0" err="1"/>
              <a:t>y_test</a:t>
            </a:r>
            <a:r>
              <a:rPr lang="en-IN" dirty="0"/>
              <a:t>, </a:t>
            </a:r>
            <a:r>
              <a:rPr lang="en-IN" dirty="0" err="1"/>
              <a:t>y_pred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print("Accuracy:", accuracy)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8820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87DBE-6584-E4B2-A5C6-7C2AA7DC4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Reference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789EC-1E44-B01C-EBCC-44A4ED881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K-Nearest Neighbor(KNN) Algorithm – </a:t>
            </a:r>
            <a:r>
              <a:rPr lang="en-US" dirty="0" err="1">
                <a:hlinkClick r:id="rId2"/>
              </a:rPr>
              <a:t>GeeksforGeeks</a:t>
            </a:r>
            <a:endParaRPr lang="en-US" dirty="0"/>
          </a:p>
          <a:p>
            <a:r>
              <a:rPr lang="en-US" dirty="0">
                <a:hlinkClick r:id="rId3"/>
              </a:rPr>
              <a:t>K-Nearest Neighbors (KNN) in Machine Learning</a:t>
            </a:r>
            <a:endParaRPr lang="en-US" dirty="0"/>
          </a:p>
          <a:p>
            <a:r>
              <a:rPr lang="en-US" dirty="0">
                <a:hlinkClick r:id="rId4"/>
              </a:rPr>
              <a:t>Python Machine Learning - K-nearest neighbors (KNN)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9582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823</Words>
  <Application>Microsoft Office PowerPoint</Application>
  <PresentationFormat>Widescreen</PresentationFormat>
  <Paragraphs>74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K-Nearest Neighbors (KNN) algorithm</vt:lpstr>
      <vt:lpstr>Introduction</vt:lpstr>
      <vt:lpstr>Key characteristics</vt:lpstr>
      <vt:lpstr>'K' in K Nearest Neighbour</vt:lpstr>
      <vt:lpstr>How to choose the value of k for KNN Algorithm?</vt:lpstr>
      <vt:lpstr>Statistical Methods for Selecting k</vt:lpstr>
      <vt:lpstr>Statistical Methods for Selecting k (cont.)</vt:lpstr>
      <vt:lpstr>Distance Metrics Used in KNN Algorithm</vt:lpstr>
      <vt:lpstr>Working of KNN algorithm</vt:lpstr>
      <vt:lpstr>Sample code snippet</vt:lpstr>
      <vt:lpstr>Sample code snippet (cont.)</vt:lpstr>
      <vt:lpstr>Reference Links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Sushma Vatekar</dc:creator>
  <cp:lastModifiedBy>Sushma Vatekar</cp:lastModifiedBy>
  <cp:revision>6</cp:revision>
  <dcterms:created xsi:type="dcterms:W3CDTF">2026-01-03T08:08:43Z</dcterms:created>
  <dcterms:modified xsi:type="dcterms:W3CDTF">2026-01-21T04:18:03Z</dcterms:modified>
</cp:coreProperties>
</file>