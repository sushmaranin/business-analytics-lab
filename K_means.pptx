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  <p:sldId id="265" r:id="rId11"/>
    <p:sldId id="266" r:id="rId12"/>
    <p:sldId id="270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E61F-0907-749A-C7A6-CC99CA47F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FA4F1-8E67-B72F-4D23-FD6E38DD0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EFEA8-11F0-29DD-906D-9B1B3E71E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FC22-71E4-4EBA-98DF-26BA2DF616D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FC824-BA99-52BA-F737-3FEB33D1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5C123-738C-6FFB-7D63-CD25E2E2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16345-CB75-4244-B308-56726F7F0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311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ECD7-3452-5753-727D-AAD74826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5523A-9E6B-2A7B-3EEC-B31CE7631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66019-56F4-E496-4153-1DDCAD60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FC22-71E4-4EBA-98DF-26BA2DF616D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B056B-596C-C218-0148-1C4E559B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A6B87-8DBF-A6B1-00CC-68817682E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16345-CB75-4244-B308-56726F7F0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13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76BDD-5200-3E2D-755B-99A0DB565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C7924-5F6A-1E65-0048-C5AA6AC83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482FF-4668-A061-008D-5003B18E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FC22-71E4-4EBA-98DF-26BA2DF616D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AEDC5-36E8-C7E8-97CE-0729493B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739C8-7D2F-4A2C-5561-29C86B55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16345-CB75-4244-B308-56726F7F0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357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DACF-DA4D-3A38-78A3-C0540DCDE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CA970-29AB-A908-E312-96C75A7A0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1E5C6-013D-8F57-B5C3-ED1AC254E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EEBC1-A07F-0F7C-D36B-E9D5437F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FC22-71E4-4EBA-98DF-26BA2DF616D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CE7AB-CAF2-9A07-C11F-EB8A7450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8A3E8-4636-EB11-80BA-33D79AEA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16345-CB75-4244-B308-56726F7F0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594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0EEB0-37FD-EF70-E146-E27720B5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AB094-361A-A351-DBC5-D361DFBD6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82EA2-9F05-46E1-50B2-5376FABBD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D708A-F9CD-1A70-41B8-28ABE7CC13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CA86A5-1868-623C-60D6-5DE388AE1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0C2B4-3E20-7E2E-D83E-94596B8C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FC22-71E4-4EBA-98DF-26BA2DF616D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1D5E44-8EE2-35FD-7E2F-11D06B1E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FAA27-8C8F-7CB7-8F01-2577BA07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16345-CB75-4244-B308-56726F7F0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741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4395-F26D-E468-9C47-205E437F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40EFD-3AC6-9369-CCCE-DCE241D8A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FC22-71E4-4EBA-98DF-26BA2DF616D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F11B1-3171-8E59-BC13-FD301655C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27894-0B4B-8E02-5D9B-95605C0E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16345-CB75-4244-B308-56726F7F0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039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536A2B-2BA0-45F8-A517-1C631A6B5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FC22-71E4-4EBA-98DF-26BA2DF616D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970C9-325F-5095-6B37-DCF9797EB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9EE0F-B0AF-7069-F12A-D00D0F87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16345-CB75-4244-B308-56726F7F0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20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3288-0606-FC24-254D-ECCF2F621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05DED-2A91-74DB-CF1B-346865D46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F2E00-6605-979F-F9B1-84FD7E371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D68F8-4413-6557-8ACA-5308D97D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FC22-71E4-4EBA-98DF-26BA2DF616D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28D5E-A8EF-ED97-FFA2-BCCD759A0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1228-F4EE-E1D4-07B8-464048F6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16345-CB75-4244-B308-56726F7F0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8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2DEAE-45CA-3D1D-89C5-9A2A2A0D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91EBB2-10EC-E0CE-8978-A15B8B1DF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F81DA-6FCA-819C-9BDF-72FC421A2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0EC41-B2F3-6701-02A3-27371F419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FC22-71E4-4EBA-98DF-26BA2DF616D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254E1-919A-3E20-0114-5402D462F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C4AA3-F060-14E3-5FC2-7EC6CDDC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16345-CB75-4244-B308-56726F7F0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39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FA77D-5E0E-53BF-FFDF-539C618F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46903-42A8-0598-11B3-831BEBD2D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C05DB-6E8C-C811-A2EC-25D02E95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FC22-71E4-4EBA-98DF-26BA2DF616D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021BB-7371-9BF4-E279-4EEDF907E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87A61-E5EC-0568-77BE-A212E1E50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16345-CB75-4244-B308-56726F7F0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3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6BAEC-4C76-40F3-158E-B95699253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BDC6E-2D7A-7332-86EF-38CCC20B0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92835-33A6-258D-4169-5312C4C7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FC22-71E4-4EBA-98DF-26BA2DF616D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6D6C0-DA6B-2B94-EC21-B18858B17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10E14-4A6D-3044-4054-C8E79AEBA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16345-CB75-4244-B308-56726F7F0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044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9BE9E-F7BA-DE0B-E71C-A4988C067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44F17-CA8D-D0B2-AFB0-9154E99B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71CC-5D39-6485-B009-AED2C89D8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AFC22-71E4-4EBA-98DF-26BA2DF616D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73380-DF76-79C9-FD6C-BD868DFA6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4C14E-F610-8F7E-80E2-FA14376A3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16345-CB75-4244-B308-56726F7F0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99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machine_learning/machine_learning_k_means_clustering.htm" TargetMode="External"/><Relationship Id="rId2" Type="http://schemas.openxmlformats.org/officeDocument/2006/relationships/hyperlink" Target="https://www.geeksforgeeks.org/machine-learning/k-means-clustering-introducti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datasets/shwetabh123/mall-customers" TargetMode="External"/><Relationship Id="rId4" Type="http://schemas.openxmlformats.org/officeDocument/2006/relationships/hyperlink" Target="https://www.analyticsvidhya.com/blog/2019/08/comprehensive-guide-k-means-cluster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AAD91-23B7-5BD1-7469-3FBBE3E5BD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K-means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EBD90-44EB-EA16-50F8-78EC75AE9B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40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9FBA-89BF-D6B9-9129-CD7CF95C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 Clustering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DD875-639B-6D2D-4AC3-4C3540212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K-Means</a:t>
            </a:r>
            <a:r>
              <a:rPr lang="en-US" dirty="0"/>
              <a:t> is an </a:t>
            </a:r>
            <a:r>
              <a:rPr lang="en-US" b="1" dirty="0"/>
              <a:t>unsupervised machine learning algorithm</a:t>
            </a:r>
            <a:r>
              <a:rPr lang="en-US" dirty="0"/>
              <a:t> used to group data into </a:t>
            </a:r>
            <a:r>
              <a:rPr lang="en-US" b="1" dirty="0"/>
              <a:t>K distinct clusters</a:t>
            </a:r>
            <a:r>
              <a:rPr lang="en-US" dirty="0"/>
              <a:t> based on similarity.</a:t>
            </a:r>
          </a:p>
          <a:p>
            <a:pPr algn="just"/>
            <a:endParaRPr lang="en-IN" dirty="0"/>
          </a:p>
          <a:p>
            <a:pPr algn="just"/>
            <a:r>
              <a:rPr lang="en-US" dirty="0"/>
              <a:t>K-Means clustering partitions a dataset into </a:t>
            </a:r>
            <a:r>
              <a:rPr lang="en-US" i="1" dirty="0"/>
              <a:t>K</a:t>
            </a:r>
            <a:r>
              <a:rPr lang="en-US" dirty="0"/>
              <a:t> non-overlapping clusters such that the </a:t>
            </a:r>
            <a:r>
              <a:rPr lang="en-US" b="1" dirty="0"/>
              <a:t>within-cluster variance is minimized</a:t>
            </a:r>
            <a:r>
              <a:rPr lang="en-US" dirty="0"/>
              <a:t> and data points in the same cluster are more similar to each other than to those in other clusters.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400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429C3-33F7-0FCE-C4F9-21BC5205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K-means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AE86E-8FDB-EDB1-5588-F78721918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Choose K (number of clusters).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Initialize K centroids randomly.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Assign each data point to the nearest centroid (usually using Euclidean distance).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Recalculate centroids as the mean of all points in each cluster.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Repeat steps 3 and 4 until centroids do not change (convergence).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3010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453E-3B03-40DB-723C-0B416AD49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Expectation-Maximization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DA13-77FD-97D1-8327-6C2BFFF81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K-means follows </a:t>
            </a:r>
            <a:r>
              <a:rPr lang="en-US" b="1" dirty="0"/>
              <a:t>Expectation-Maximization</a:t>
            </a:r>
            <a:r>
              <a:rPr lang="en-US" dirty="0"/>
              <a:t> approach to solve the problem. </a:t>
            </a:r>
          </a:p>
          <a:p>
            <a:pPr marL="0" indent="0" algn="just">
              <a:buNone/>
            </a:pPr>
            <a:r>
              <a:rPr lang="en-US" dirty="0"/>
              <a:t>The Expectation-step is used for assigning the data points to the closest cluster.</a:t>
            </a:r>
          </a:p>
          <a:p>
            <a:pPr marL="0" indent="0" algn="just">
              <a:buNone/>
            </a:pPr>
            <a:r>
              <a:rPr lang="en-US" dirty="0"/>
              <a:t>The Maximization-step is used for computing the centroid of each cluster.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669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88D01-60D6-F045-FB3A-B9F20F4C7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 and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1F3CD9-6208-0A68-3DA9-E9E3CD311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8160" y="1847374"/>
            <a:ext cx="8117840" cy="4058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963723-D803-05C9-7469-E1C3F2278383}"/>
              </a:ext>
            </a:extLst>
          </p:cNvPr>
          <p:cNvSpPr txBox="1"/>
          <p:nvPr/>
        </p:nvSpPr>
        <p:spPr>
          <a:xfrm>
            <a:off x="1910080" y="19540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      </a:t>
            </a:r>
            <a:r>
              <a:rPr lang="en-US" b="1" dirty="0"/>
              <a:t>Choose K (number of clusters).</a:t>
            </a:r>
          </a:p>
        </p:txBody>
      </p:sp>
    </p:spTree>
    <p:extLst>
      <p:ext uri="{BB962C8B-B14F-4D97-AF65-F5344CB8AC3E}">
        <p14:creationId xmlns:p14="http://schemas.microsoft.com/office/powerpoint/2010/main" val="2446550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D824-4B7F-9697-1CF1-A104AFC0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6088DD-91D1-5456-90F7-C0132CD87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8480" y="1857534"/>
            <a:ext cx="8097520" cy="404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92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77CD3-E66C-012E-5298-3895DCAFC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55037A-9E89-0533-7BF6-9D838B153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8160" y="1847374"/>
            <a:ext cx="8117840" cy="405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656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F4C4-8FCB-B369-D2CE-D86DB0FF8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822243-1BAE-6410-8D47-CCCCA080D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160" y="1974374"/>
            <a:ext cx="786384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56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7379F-7321-2C9E-F744-FAA2E4018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Distance Measure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8E6F1-A649-C566-23C9-C988EE83A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Most commonly used: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32C07-C794-71FD-4AD8-F9B4C725D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20" y="2903178"/>
            <a:ext cx="5699017" cy="95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23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1E7F-B1B5-0C28-3392-AF5031DB1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1D87-1049-FB1B-EAA7-87226E14F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K-Means minimizes </a:t>
            </a:r>
            <a:r>
              <a:rPr lang="en-US" b="1" dirty="0"/>
              <a:t>Within-Cluster Sum of Squares (WCSS)</a:t>
            </a:r>
            <a:r>
              <a:rPr lang="en-US" dirty="0"/>
              <a:t>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1FB48-7692-772F-5856-2ABE9BB9A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120" y="2595474"/>
            <a:ext cx="5426166" cy="151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19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49D4C5-CCE4-80CC-FE8F-9EC9EAF2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Statistical Methods for Selecting k (cont.)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019B2B-A40A-A1E5-4D0E-F18797584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6720" y="3528854"/>
            <a:ext cx="6096000" cy="304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8EC204-74A5-F773-6825-4956009CA242}"/>
              </a:ext>
            </a:extLst>
          </p:cNvPr>
          <p:cNvSpPr txBox="1"/>
          <p:nvPr/>
        </p:nvSpPr>
        <p:spPr>
          <a:xfrm>
            <a:off x="1036320" y="2003197"/>
            <a:ext cx="10149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b="1" dirty="0"/>
              <a:t>Elbow Method</a:t>
            </a:r>
            <a:r>
              <a:rPr lang="en-US" dirty="0"/>
              <a:t>: In Elbow Method we draw a graph showing the error rate or accuracy for different k values. As k increases the error usually drops at first. But after a certain point error stops decreasing quickly. The point where the curve changes direction and looks like an "elbow" is usually the best choice for k.</a:t>
            </a:r>
          </a:p>
        </p:txBody>
      </p:sp>
    </p:spTree>
    <p:extLst>
      <p:ext uri="{BB962C8B-B14F-4D97-AF65-F5344CB8AC3E}">
        <p14:creationId xmlns:p14="http://schemas.microsoft.com/office/powerpoint/2010/main" val="282970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00B89-4BB6-5846-360E-B0AFED96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Sample 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ED29A-5C48-9A95-6319-F9AAFA1FF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sklearn.cluster</a:t>
            </a:r>
            <a:r>
              <a:rPr lang="en-IN" dirty="0"/>
              <a:t> import </a:t>
            </a:r>
            <a:r>
              <a:rPr lang="en-IN" dirty="0" err="1"/>
              <a:t>KMeans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kmeans</a:t>
            </a:r>
            <a:r>
              <a:rPr lang="en-IN" dirty="0"/>
              <a:t> = </a:t>
            </a:r>
            <a:r>
              <a:rPr lang="en-IN" dirty="0" err="1"/>
              <a:t>KMeans</a:t>
            </a:r>
            <a:r>
              <a:rPr lang="en-IN" dirty="0"/>
              <a:t>(</a:t>
            </a:r>
            <a:r>
              <a:rPr lang="en-IN" dirty="0" err="1"/>
              <a:t>n_clusters</a:t>
            </a:r>
            <a:r>
              <a:rPr lang="en-IN" dirty="0"/>
              <a:t>=3, </a:t>
            </a:r>
            <a:r>
              <a:rPr lang="en-IN" dirty="0" err="1"/>
              <a:t>random_state</a:t>
            </a:r>
            <a:r>
              <a:rPr lang="en-IN" dirty="0"/>
              <a:t>=42)</a:t>
            </a:r>
          </a:p>
          <a:p>
            <a:pPr marL="0" indent="0">
              <a:buNone/>
            </a:pPr>
            <a:r>
              <a:rPr lang="en-IN" dirty="0" err="1"/>
              <a:t>kmeans.fit</a:t>
            </a:r>
            <a:r>
              <a:rPr lang="en-IN" dirty="0"/>
              <a:t>(X)</a:t>
            </a:r>
          </a:p>
          <a:p>
            <a:pPr marL="0" indent="0">
              <a:buNone/>
            </a:pPr>
            <a:r>
              <a:rPr lang="en-IN" dirty="0"/>
              <a:t>labels = </a:t>
            </a:r>
            <a:r>
              <a:rPr lang="en-IN" dirty="0" err="1"/>
              <a:t>kmeans.labels</a:t>
            </a:r>
            <a:r>
              <a:rPr lang="en-IN" dirty="0"/>
              <a:t>_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883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CC013-3AAD-EC88-4A6D-1C8DBE6CB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A895D-BE43-0182-8092-A61D3B6FC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and easy to implement</a:t>
            </a:r>
          </a:p>
          <a:p>
            <a:r>
              <a:rPr lang="en-US" dirty="0"/>
              <a:t>Fast and scalable for large datasets</a:t>
            </a:r>
          </a:p>
          <a:p>
            <a:r>
              <a:rPr lang="en-US" dirty="0"/>
              <a:t>Works well when clusters are clearly separated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4558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C4DC-35EE-0F3C-A0E2-3F73416FC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with K-Means Clustering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09DC01-34B8-FE62-A311-B1AAD1202C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 fontAlgn="base"/>
                <a:r>
                  <a:rPr lang="en-US" b="1" dirty="0"/>
                  <a:t>Choosing the Right Number of Clusters</a:t>
                </a:r>
                <a:r>
                  <a:rPr lang="en-US" dirty="0"/>
                  <a:t> 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): One of the biggest challenges is deciding how many clusters to use.</a:t>
                </a:r>
              </a:p>
              <a:p>
                <a:pPr algn="just" fontAlgn="base"/>
                <a:r>
                  <a:rPr lang="en-US" b="1" dirty="0"/>
                  <a:t>Sensitive to Initial Centroids:</a:t>
                </a:r>
                <a:r>
                  <a:rPr lang="en-US" dirty="0"/>
                  <a:t> The final clusters can vary depending on the initial random placement of centroids.</a:t>
                </a:r>
              </a:p>
              <a:p>
                <a:pPr algn="just" fontAlgn="base"/>
                <a:r>
                  <a:rPr lang="en-US" b="1" dirty="0"/>
                  <a:t>Non-Spherical Clusters:</a:t>
                </a:r>
                <a:r>
                  <a:rPr lang="en-US" dirty="0"/>
                  <a:t> K-Means assumes that the clusters are spherical and equally sized. This can be a problem when the actual clusters in the data are of different shapes or densities.</a:t>
                </a:r>
              </a:p>
              <a:p>
                <a:pPr algn="just" fontAlgn="base"/>
                <a:r>
                  <a:rPr lang="en-US" b="1" dirty="0"/>
                  <a:t>Outliers</a:t>
                </a:r>
                <a:r>
                  <a:rPr lang="en-US" dirty="0"/>
                  <a:t>: K-Means is sensitive to outliers, which can distort the centroid and, ultimately, the clusters.</a:t>
                </a:r>
              </a:p>
              <a:p>
                <a:pPr marL="0" indent="0" algn="just">
                  <a:buNone/>
                </a:pPr>
                <a:br>
                  <a:rPr lang="en-US" dirty="0"/>
                </a:b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09DC01-34B8-FE62-A311-B1AAD1202C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9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4379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36C9-69B0-F466-5540-CEE1D7261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420FB-87B7-9F38-E2DC-7C662C094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Customer segmentation</a:t>
            </a:r>
          </a:p>
          <a:p>
            <a:r>
              <a:rPr lang="en-IN" dirty="0"/>
              <a:t>Market basket analysis</a:t>
            </a:r>
          </a:p>
          <a:p>
            <a:r>
              <a:rPr lang="en-IN" dirty="0"/>
              <a:t>Image compression</a:t>
            </a:r>
          </a:p>
          <a:p>
            <a:r>
              <a:rPr lang="en-IN" dirty="0"/>
              <a:t>Document clustering</a:t>
            </a:r>
          </a:p>
          <a:p>
            <a:r>
              <a:rPr lang="en-IN" dirty="0"/>
              <a:t>Recommendation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467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2FFE-10B2-49FB-920D-AC94417B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D8E34-1372-A604-4721-21AAFD209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K means Clustering – Introduction – </a:t>
            </a:r>
            <a:r>
              <a:rPr lang="en-US" dirty="0" err="1">
                <a:hlinkClick r:id="rId2"/>
              </a:rPr>
              <a:t>GeeksforGeeks</a:t>
            </a:r>
            <a:endParaRPr lang="en-US" dirty="0"/>
          </a:p>
          <a:p>
            <a:r>
              <a:rPr lang="en-US" dirty="0">
                <a:hlinkClick r:id="rId3"/>
              </a:rPr>
              <a:t>K-Means Clustering Algorithm in Machine Learning</a:t>
            </a:r>
            <a:endParaRPr lang="en-US" dirty="0"/>
          </a:p>
          <a:p>
            <a:r>
              <a:rPr lang="en-IN" dirty="0">
                <a:hlinkClick r:id="rId4"/>
              </a:rPr>
              <a:t>K-Means Clustering Algorithm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Dataset Link</a:t>
            </a:r>
          </a:p>
          <a:p>
            <a:pPr marL="0" indent="0">
              <a:buNone/>
            </a:pPr>
            <a:r>
              <a:rPr lang="en-IN" dirty="0" err="1">
                <a:hlinkClick r:id="rId5"/>
              </a:rPr>
              <a:t>Mall_Customers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7890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444</Words>
  <Application>Microsoft Office PowerPoint</Application>
  <PresentationFormat>Widescreen</PresentationFormat>
  <Paragraphs>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K-means Clustering</vt:lpstr>
      <vt:lpstr>K-Means Clustering</vt:lpstr>
      <vt:lpstr>K-means Algorithm</vt:lpstr>
      <vt:lpstr>Expectation-Maximization</vt:lpstr>
      <vt:lpstr>Step 1 and 2</vt:lpstr>
      <vt:lpstr>Step 3</vt:lpstr>
      <vt:lpstr>Step 4</vt:lpstr>
      <vt:lpstr>Step 5</vt:lpstr>
      <vt:lpstr>Distance Measure</vt:lpstr>
      <vt:lpstr>Objective Function</vt:lpstr>
      <vt:lpstr>Statistical Methods for Selecting k (cont.)</vt:lpstr>
      <vt:lpstr>Sample code snippet</vt:lpstr>
      <vt:lpstr>Advantages</vt:lpstr>
      <vt:lpstr>Challenges with K-Means Clustering</vt:lpstr>
      <vt:lpstr>Applications</vt:lpstr>
      <vt:lpstr>Reference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Sushma Vatekar</dc:creator>
  <cp:lastModifiedBy>Sushma Vatekar</cp:lastModifiedBy>
  <cp:revision>4</cp:revision>
  <dcterms:created xsi:type="dcterms:W3CDTF">2026-01-21T03:48:38Z</dcterms:created>
  <dcterms:modified xsi:type="dcterms:W3CDTF">2026-01-21T04:11:37Z</dcterms:modified>
</cp:coreProperties>
</file>